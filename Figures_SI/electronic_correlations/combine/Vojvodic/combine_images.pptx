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1652" r:id="rId2"/>
    <p:sldId id="1658" r:id="rId3"/>
    <p:sldId id="1657" r:id="rId4"/>
    <p:sldId id="1659" r:id="rId5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41"/>
    <p:restoredTop sz="94627"/>
  </p:normalViewPr>
  <p:slideViewPr>
    <p:cSldViewPr snapToGrid="0">
      <p:cViewPr varScale="1">
        <p:scale>
          <a:sx n="152" d="100"/>
          <a:sy n="152" d="100"/>
        </p:scale>
        <p:origin x="27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rgbClr val="99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1" name="Logo white">
            <a:extLst>
              <a:ext uri="{FF2B5EF4-FFF2-40B4-BE49-F238E27FC236}">
                <a16:creationId xmlns:a16="http://schemas.microsoft.com/office/drawing/2014/main" id="{275A6477-FE3A-4D40-B1FE-E46C11E344A5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252033" y="252000"/>
            <a:ext cx="419666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sz="1800" dirty="0"/>
          </a:p>
        </p:txBody>
      </p:sp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92" y="3545117"/>
            <a:ext cx="10841439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noProof="0"/>
              <a:t>Click to edit Master title style</a:t>
            </a:r>
            <a:endParaRPr lang="en-GB" noProof="0" dirty="0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104" y="1704975"/>
            <a:ext cx="10841439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noProof="0"/>
              <a:t>Click to edit Master subtitle style</a:t>
            </a:r>
            <a:endParaRPr lang="en-GB" noProof="0" dirty="0"/>
          </a:p>
        </p:txBody>
      </p:sp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D20B1590-C678-8C58-E52B-B18894B38D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025CB4DB-17C7-3C47-B8FC-CA8DAA57CD16}" type="datetime1">
              <a:rPr lang="da-DK" smtClean="0"/>
              <a:t>30.06.2025</a:t>
            </a:fld>
            <a:endParaRPr lang="en-GB" dirty="0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2DDBEE1B-0FAB-7889-72A5-061AD0D74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3" name="Footer Placeholder 5">
            <a:extLst>
              <a:ext uri="{FF2B5EF4-FFF2-40B4-BE49-F238E27FC236}">
                <a16:creationId xmlns:a16="http://schemas.microsoft.com/office/drawing/2014/main" id="{03C35D72-EC55-2048-3021-46C8BB45CA8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 dirty="0"/>
              <a:t>Simiam Ghan | </a:t>
            </a:r>
            <a:r>
              <a:rPr lang="da-DK" dirty="0" err="1"/>
              <a:t>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13835551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6984">
          <p15:clr>
            <a:srgbClr val="F26B43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92" y="3545117"/>
            <a:ext cx="10841439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Click to edit Master title style</a:t>
            </a:r>
            <a:endParaRPr lang="en-GB" noProof="0" dirty="0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104" y="1704975"/>
            <a:ext cx="10841439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Click to edit Master subtitle style</a:t>
            </a:r>
            <a:endParaRPr lang="en-GB" noProof="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26E83F-35F3-7C0A-C83E-AFDCA346710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22D8C74A-38EC-3840-AB49-1E0C4B490A1A}" type="datetime1">
              <a:rPr lang="da-DK" smtClean="0"/>
              <a:t>30.06.2025</a:t>
            </a:fld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12648B-3179-ABFE-F3AA-427613837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3" name="Footer Placeholder 5">
            <a:extLst>
              <a:ext uri="{FF2B5EF4-FFF2-40B4-BE49-F238E27FC236}">
                <a16:creationId xmlns:a16="http://schemas.microsoft.com/office/drawing/2014/main" id="{59035397-9F37-0FF7-450F-ADC8DCD898E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 dirty="0"/>
              <a:t>Simiam Ghan | </a:t>
            </a:r>
            <a:r>
              <a:rPr lang="da-DK" dirty="0" err="1"/>
              <a:t>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2017689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6984">
          <p15:clr>
            <a:srgbClr val="F26B43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48A0E3C-0CE1-4BBF-A912-5A81BF3B7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5031" y="1706400"/>
            <a:ext cx="9313586" cy="454557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209954EC-B8D9-8075-FC9F-D3764E46CE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E51A98B0-BE60-8545-8980-4D728E764AD9}" type="datetime1">
              <a:rPr lang="da-DK" smtClean="0"/>
              <a:t>30.06.2025</a:t>
            </a:fld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8AD440C-0797-9C1A-F3D9-3529DA26E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2" name="Footer Placeholder 5">
            <a:extLst>
              <a:ext uri="{FF2B5EF4-FFF2-40B4-BE49-F238E27FC236}">
                <a16:creationId xmlns:a16="http://schemas.microsoft.com/office/drawing/2014/main" id="{80C0EDF8-2CBF-4FF5-56B7-184EC333F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Simiam Ghan | 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8604309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>
          <p15:clr>
            <a:srgbClr val="F26B43"/>
          </p15:clr>
        </p15:guide>
        <p15:guide id="2" pos="1117">
          <p15:clr>
            <a:srgbClr val="F26B43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EB1D5E1-0C4E-4A74-BE37-26307F7E2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957" y="426127"/>
            <a:ext cx="9313586" cy="97271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75032" y="1706399"/>
            <a:ext cx="4410751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78870" y="1706399"/>
            <a:ext cx="4409674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2DB094-8FAE-C677-71FF-C957451498D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E85C236E-1C30-674C-B6D0-A0D07779EAB9}" type="datetime1">
              <a:rPr lang="da-DK" smtClean="0"/>
              <a:t>30.06.2025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0EBB58-CCF5-8D0B-B0A3-EB326A793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Simiam Ghan | sangh@dtu.dk</a:t>
            </a:r>
            <a:endParaRPr lang="da-DK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047D44D2-EBA3-A211-09B8-DBF6523CB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8425765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8">
          <p15:clr>
            <a:srgbClr val="F26B43"/>
          </p15:clr>
        </p15:guide>
        <p15:guide id="2" pos="3896">
          <p15:clr>
            <a:srgbClr val="F26B43"/>
          </p15:clr>
        </p15:guide>
        <p15:guide id="3" pos="4205">
          <p15:clr>
            <a:srgbClr val="F26B43"/>
          </p15:clr>
        </p15:guide>
        <p15:guide id="4" pos="6984">
          <p15:clr>
            <a:srgbClr val="F26B43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90A2595F-A737-4D92-946C-EC0BBF885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957" y="426127"/>
            <a:ext cx="6049459" cy="97271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4957" y="1706328"/>
            <a:ext cx="6049459" cy="454557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32298" y="849734"/>
            <a:ext cx="3859702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32298" y="3563718"/>
            <a:ext cx="3859702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4EEF-2B63-484E-803A-4FCD66F243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06AB93-5959-29D5-C0C8-6B37FCF5F141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/>
          <a:p>
            <a:fld id="{E9E1F3A7-0396-684C-9353-3AA45095AA71}" type="datetime1">
              <a:rPr lang="da-DK" smtClean="0"/>
              <a:t>30.06.2025</a:t>
            </a:fld>
            <a:endParaRPr lang="en-GB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3CB561F5-56DA-E113-07A9-31399910F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Simiam Ghan | 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8415478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927">
          <p15:clr>
            <a:srgbClr val="F26B43"/>
          </p15:clr>
        </p15:guide>
        <p15:guide id="2" pos="5247">
          <p15:clr>
            <a:srgbClr val="F26B43"/>
          </p15:clr>
        </p15:guide>
        <p15:guide id="3" pos="1117">
          <p15:clr>
            <a:srgbClr val="F26B43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92213382-11A1-48CE-B0A0-D8A7D268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1909" y="426127"/>
            <a:ext cx="6866634" cy="97271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1909" y="1706328"/>
            <a:ext cx="6866634" cy="454557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1314523"/>
            <a:ext cx="3708483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3968153"/>
            <a:ext cx="3708483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5D0DC-E43F-43DA-AA0F-C0C54C8939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45D79-EFF9-98D6-B066-40CEED6C2E2A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/>
          <a:p>
            <a:fld id="{87452FCF-DB2A-5F45-B650-526B780F2213}" type="datetime1">
              <a:rPr lang="da-DK" smtClean="0"/>
              <a:t>30.06.2025</a:t>
            </a:fld>
            <a:endParaRPr lang="en-GB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EAEED2BD-CBC4-E0C7-4ADD-3851AF046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Simiam Ghan | 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4683364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>
          <p15:clr>
            <a:srgbClr val="F26B43"/>
          </p15:clr>
        </p15:guide>
        <p15:guide id="2" pos="2660">
          <p15:clr>
            <a:srgbClr val="F26B43"/>
          </p15:clr>
        </p15:guide>
        <p15:guide id="3" pos="2335">
          <p15:clr>
            <a:srgbClr val="F26B43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953C3-F3F7-4638-96F8-7CF20CB55E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7682" y="980728"/>
            <a:ext cx="3740887" cy="41811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C0DB591-4602-46B3-B1C3-1E64148AB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82" y="4407151"/>
            <a:ext cx="3740887" cy="184442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8416079-1CFC-426F-A6ED-5AB355FC54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3300" y="979201"/>
            <a:ext cx="3740887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358873C-68BF-4E89-B536-B3248F2B25FE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223300" y="4406900"/>
            <a:ext cx="3740888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69A0E900-1FE2-4CC1-B435-93F3A118935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8917" y="979201"/>
            <a:ext cx="3740887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E094886A-F110-4851-B1DA-8DFC40D509F8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8198917" y="4406900"/>
            <a:ext cx="3740887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1B02311-54A6-4455-B615-BBCA0DA742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47682" y="1546282"/>
            <a:ext cx="3740887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710A5827-3485-49A0-81F0-FF89EE34B80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23699" y="1548581"/>
            <a:ext cx="3740887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E27B0558-FCB8-4A55-9BA9-182DFF0387F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199715" y="1546282"/>
            <a:ext cx="3740887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CDBA22-AE55-C68A-132F-A826D0B0C740}"/>
              </a:ext>
            </a:extLst>
          </p:cNvPr>
          <p:cNvSpPr>
            <a:spLocks noGrp="1"/>
          </p:cNvSpPr>
          <p:nvPr>
            <p:ph type="dt" sz="half" idx="25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/>
          <a:p>
            <a:fld id="{48E6AEDC-D177-4447-9167-1BF6F74D72EE}" type="datetime1">
              <a:rPr lang="da-DK" smtClean="0"/>
              <a:t>30.06.2025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981C81-370B-04F9-300E-B3424D159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/>
              <a:t>Simiam Ghan | 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2794680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7522">
          <p15:clr>
            <a:srgbClr val="F26B43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ogo og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39F3A-7714-4FD6-9132-D60FFA220D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E183DE-20D3-DB32-ED9D-43A02E676CAC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/>
          <a:lstStyle/>
          <a:p>
            <a:fld id="{9A1051F6-884E-4D46-AD5F-8A730B377BAA}" type="datetime1">
              <a:rPr lang="da-DK" smtClean="0"/>
              <a:t>30.06.2025</a:t>
            </a:fld>
            <a:endParaRPr lang="en-GB"/>
          </a:p>
        </p:txBody>
      </p:sp>
      <p:sp>
        <p:nvSpPr>
          <p:cNvPr id="4" name="Footer Placeholder 5">
            <a:extLst>
              <a:ext uri="{FF2B5EF4-FFF2-40B4-BE49-F238E27FC236}">
                <a16:creationId xmlns:a16="http://schemas.microsoft.com/office/drawing/2014/main" id="{261A0643-A405-FE19-C467-403FA1E66AD7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 dirty="0"/>
              <a:t>Simiam Ghan | </a:t>
            </a:r>
            <a:r>
              <a:rPr lang="da-DK" dirty="0" err="1"/>
              <a:t>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6508880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8043B6-861B-7701-CEE2-6FF736589C8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92399B-5184-32B1-0AFF-6181B3E9036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1E5994F3-19EB-214E-985D-C72A9F0F1D85}" type="datetime1">
              <a:rPr lang="da-DK" smtClean="0"/>
              <a:t>30.06.2025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3FB6FF-0335-FEB5-42B3-51F8618FB96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da-DK" dirty="0"/>
              <a:t>Simiam Ghan | </a:t>
            </a:r>
            <a:r>
              <a:rPr lang="da-DK" dirty="0" err="1"/>
              <a:t>sangh@dtu.dk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8030602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ront/Pause 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ackground">
            <a:extLst>
              <a:ext uri="{FF2B5EF4-FFF2-40B4-BE49-F238E27FC236}">
                <a16:creationId xmlns:a16="http://schemas.microsoft.com/office/drawing/2014/main" id="{AF9D3C51-A276-4E1F-B6B6-FD6A4E17EE28}"/>
              </a:ext>
            </a:extLst>
          </p:cNvPr>
          <p:cNvSpPr/>
          <p:nvPr userDrawn="1"/>
        </p:nvSpPr>
        <p:spPr bwMode="auto">
          <a:xfrm>
            <a:off x="0" y="0"/>
            <a:ext cx="12194787" cy="6861600"/>
          </a:xfrm>
          <a:prstGeom prst="rect">
            <a:avLst/>
          </a:prstGeom>
          <a:solidFill>
            <a:schemeClr val="accent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C9776080-6230-4AB8-AB28-4D6744DD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fld id="{420B1B64-6903-8D45-8D2A-9338C2B7AC44}" type="datetime1">
              <a:rPr lang="da-DK" smtClean="0"/>
              <a:t>30.06.2025</a:t>
            </a:fld>
            <a:endParaRPr lang="en-GB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B7FFAE6-D148-4A15-9DFC-7D71B820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Simiam Ghan | sangh@dtu.dk</a:t>
            </a:r>
            <a:endParaRPr lang="en-GB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3125B57E-AFC7-4517-B327-461DB01D2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Logo color">
            <a:extLst>
              <a:ext uri="{FF2B5EF4-FFF2-40B4-BE49-F238E27FC236}">
                <a16:creationId xmlns:a16="http://schemas.microsoft.com/office/drawing/2014/main" id="{B0EE486B-843B-49D6-90AE-5093AB56E30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1174" y="1651373"/>
            <a:ext cx="2388634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sz="1800" dirty="0"/>
          </a:p>
        </p:txBody>
      </p:sp>
    </p:spTree>
    <p:extLst>
      <p:ext uri="{BB962C8B-B14F-4D97-AF65-F5344CB8AC3E}">
        <p14:creationId xmlns:p14="http://schemas.microsoft.com/office/powerpoint/2010/main" val="12349858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/Paus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">
            <a:extLst>
              <a:ext uri="{FF2B5EF4-FFF2-40B4-BE49-F238E27FC236}">
                <a16:creationId xmlns:a16="http://schemas.microsoft.com/office/drawing/2014/main" id="{A3420087-96DF-432F-B192-585D42BF6A4E}"/>
              </a:ext>
            </a:extLst>
          </p:cNvPr>
          <p:cNvSpPr/>
          <p:nvPr userDrawn="1"/>
        </p:nvSpPr>
        <p:spPr bwMode="auto">
          <a:xfrm>
            <a:off x="0" y="0"/>
            <a:ext cx="12194787" cy="68616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3" name="Logo color">
            <a:extLst>
              <a:ext uri="{FF2B5EF4-FFF2-40B4-BE49-F238E27FC236}">
                <a16:creationId xmlns:a16="http://schemas.microsoft.com/office/drawing/2014/main" id="{09BBEE10-6A59-474F-B766-7643F97F869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1174" y="1651373"/>
            <a:ext cx="2388634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sz="1800" dirty="0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F062B26-8169-4B93-8FD8-CFDB0855A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fld id="{D05A487E-05B4-B647-BDD8-699F9077B661}" type="datetime1">
              <a:rPr lang="da-DK" smtClean="0"/>
              <a:t>30.06.2025</a:t>
            </a:fld>
            <a:endParaRPr lang="en-GB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CA59923C-6F09-424E-AF1E-AC62326A9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Simiam Ghan | sangh@dtu.dk</a:t>
            </a:r>
            <a:endParaRPr lang="en-GB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C299FA2-BF46-4410-B2CD-E3C80B7A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495865CE-5BE9-4122-8AB8-48E534DD88F7}"/>
              </a:ext>
            </a:extLst>
          </p:cNvPr>
          <p:cNvSpPr/>
          <p:nvPr userDrawn="1"/>
        </p:nvSpPr>
        <p:spPr bwMode="auto">
          <a:xfrm>
            <a:off x="0" y="6541200"/>
            <a:ext cx="12194787" cy="316800"/>
          </a:xfrm>
          <a:prstGeom prst="rect">
            <a:avLst/>
          </a:prstGeom>
          <a:solidFill>
            <a:srgbClr val="99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2" name="Top bar">
            <a:extLst>
              <a:ext uri="{FF2B5EF4-FFF2-40B4-BE49-F238E27FC236}">
                <a16:creationId xmlns:a16="http://schemas.microsoft.com/office/drawing/2014/main" id="{0D436479-94F3-475C-8F8D-D3CDC81793FD}"/>
              </a:ext>
            </a:extLst>
          </p:cNvPr>
          <p:cNvSpPr/>
          <p:nvPr userDrawn="1"/>
        </p:nvSpPr>
        <p:spPr bwMode="auto">
          <a:xfrm>
            <a:off x="0" y="0"/>
            <a:ext cx="12194787" cy="50400"/>
          </a:xfrm>
          <a:prstGeom prst="rect">
            <a:avLst/>
          </a:prstGeom>
          <a:solidFill>
            <a:srgbClr val="99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47227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FDC2D-1E52-C849-8333-52FCAA6DEEC6}" type="datetimeFigureOut">
              <a:rPr lang="en-DK" smtClean="0"/>
              <a:t>30/06/2025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AC9E5-BCEE-8249-9AAA-FAA79127D497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1756360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ottom bar">
            <a:extLst>
              <a:ext uri="{FF2B5EF4-FFF2-40B4-BE49-F238E27FC236}">
                <a16:creationId xmlns:a16="http://schemas.microsoft.com/office/drawing/2014/main" id="{FFFFD011-0D94-46EE-B45C-787FE82C3B5E}"/>
              </a:ext>
            </a:extLst>
          </p:cNvPr>
          <p:cNvSpPr/>
          <p:nvPr userDrawn="1"/>
        </p:nvSpPr>
        <p:spPr bwMode="auto">
          <a:xfrm>
            <a:off x="0" y="6541200"/>
            <a:ext cx="12194787" cy="316800"/>
          </a:xfrm>
          <a:prstGeom prst="rect">
            <a:avLst/>
          </a:prstGeom>
          <a:solidFill>
            <a:srgbClr val="99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9" name="Logo color">
            <a:extLst>
              <a:ext uri="{FF2B5EF4-FFF2-40B4-BE49-F238E27FC236}">
                <a16:creationId xmlns:a16="http://schemas.microsoft.com/office/drawing/2014/main" id="{ADC92552-7939-46C1-AAFE-B97F51EBFFE9}"/>
              </a:ext>
            </a:extLst>
          </p:cNvPr>
          <p:cNvSpPr>
            <a:spLocks noChangeAspect="1"/>
          </p:cNvSpPr>
          <p:nvPr userDrawn="1">
            <p:custDataLst>
              <p:tags r:id="rId14"/>
            </p:custDataLst>
          </p:nvPr>
        </p:nvSpPr>
        <p:spPr bwMode="auto">
          <a:xfrm>
            <a:off x="252033" y="252000"/>
            <a:ext cx="419666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sz="1800"/>
          </a:p>
        </p:txBody>
      </p:sp>
      <p:sp>
        <p:nvSpPr>
          <p:cNvPr id="3" name="FLD_Presentation Title"/>
          <p:cNvSpPr>
            <a:spLocks noGrp="1"/>
          </p:cNvSpPr>
          <p:nvPr>
            <p:ph type="ftr" sz="quarter" idx="3"/>
          </p:nvPr>
        </p:nvSpPr>
        <p:spPr>
          <a:xfrm>
            <a:off x="5591528" y="6541200"/>
            <a:ext cx="5497916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r">
              <a:spcBef>
                <a:spcPts val="0"/>
              </a:spcBef>
              <a:defRPr sz="7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da-DK" dirty="0"/>
              <a:t>Simiam Ghan | </a:t>
            </a:r>
            <a:r>
              <a:rPr lang="da-DK" dirty="0" err="1"/>
              <a:t>sangh@dtu.dk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1507948" y="6541200"/>
            <a:ext cx="432656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700" b="1">
                <a:solidFill>
                  <a:schemeClr val="bg1"/>
                </a:solidFill>
                <a:latin typeface="+mn-lt"/>
              </a:defRPr>
            </a:lvl1pPr>
          </a:lstStyle>
          <a:p>
            <a:fld id="{103EA872-A674-449B-A120-B97244F8E91D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4957" y="426127"/>
            <a:ext cx="9313586" cy="9727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4957" y="1706328"/>
            <a:ext cx="9313586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3676" name="text" descr="{&quot;templafy&quot;:{&quot;type&quot;:&quot;text&quot;,&quot;binding&quot;:&quot;UserProfile.Offices.Workarea_{{DocumentLanguage}}&quot;}}" title="UserProfile.Offices.Workarea_{{DocumentLanguage}}"/>
          <p:cNvSpPr>
            <a:spLocks noChangeArrowheads="1"/>
          </p:cNvSpPr>
          <p:nvPr userDrawn="1"/>
        </p:nvSpPr>
        <p:spPr bwMode="auto">
          <a:xfrm>
            <a:off x="1774958" y="6541200"/>
            <a:ext cx="3397513" cy="31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 anchorCtr="0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a-DK" sz="700" b="1" dirty="0">
                <a:solidFill>
                  <a:schemeClr val="bg1"/>
                </a:solidFill>
                <a:latin typeface="+mn-lt"/>
              </a:rPr>
              <a:t>Technical University of Denmark</a:t>
            </a:r>
          </a:p>
        </p:txBody>
      </p:sp>
      <p:sp>
        <p:nvSpPr>
          <p:cNvPr id="5" name="date" descr="{&quot;templafy&quot;:{&quot;type&quot;:&quot;date&quot;,&quot;binding&quot;:&quot;Form.Date&quot;,&quot;format&quot;:&quot;{{DateFormats.GeneralDate}}&quot;}}" title="Form.Date">
            <a:extLst>
              <a:ext uri="{FF2B5EF4-FFF2-40B4-BE49-F238E27FC236}">
                <a16:creationId xmlns:a16="http://schemas.microsoft.com/office/drawing/2014/main" id="{792B975C-625D-4095-8E1D-63F20A11B57C}"/>
              </a:ext>
            </a:extLst>
          </p:cNvPr>
          <p:cNvSpPr/>
          <p:nvPr userDrawn="1"/>
        </p:nvSpPr>
        <p:spPr bwMode="auto">
          <a:xfrm>
            <a:off x="251396" y="6541200"/>
            <a:ext cx="1104157" cy="316800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7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j-lt"/>
              <a:ea typeface="ＭＳ Ｐゴシック" pitchFamily="-80" charset="-128"/>
            </a:endParaRPr>
          </a:p>
        </p:txBody>
      </p:sp>
      <p:sp>
        <p:nvSpPr>
          <p:cNvPr id="7" name="text" descr="{&quot;templafy&quot;:{&quot;binding&quot;:&quot;Form.PresentationTitle&quot;,&quot;type&quot;:&quot;text&quot;}}" title="Form.PresentationTitle">
            <a:extLst>
              <a:ext uri="{FF2B5EF4-FFF2-40B4-BE49-F238E27FC236}">
                <a16:creationId xmlns:a16="http://schemas.microsoft.com/office/drawing/2014/main" id="{06B09BDB-1C7D-4F8A-8F1B-82D88054A428}"/>
              </a:ext>
            </a:extLst>
          </p:cNvPr>
          <p:cNvSpPr txBox="1"/>
          <p:nvPr userDrawn="1"/>
        </p:nvSpPr>
        <p:spPr>
          <a:xfrm>
            <a:off x="5581245" y="5892614"/>
            <a:ext cx="5496664" cy="3168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endParaRPr lang="da-DK" sz="7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" name="Top bar">
            <a:extLst>
              <a:ext uri="{FF2B5EF4-FFF2-40B4-BE49-F238E27FC236}">
                <a16:creationId xmlns:a16="http://schemas.microsoft.com/office/drawing/2014/main" id="{35912424-89BF-4A93-9096-3282916C71FE}"/>
              </a:ext>
            </a:extLst>
          </p:cNvPr>
          <p:cNvSpPr/>
          <p:nvPr userDrawn="1"/>
        </p:nvSpPr>
        <p:spPr bwMode="auto">
          <a:xfrm>
            <a:off x="0" y="0"/>
            <a:ext cx="12194787" cy="50400"/>
          </a:xfrm>
          <a:prstGeom prst="rect">
            <a:avLst/>
          </a:prstGeom>
          <a:solidFill>
            <a:srgbClr val="990000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14E9AE0-170F-0C2B-DFF5-DC7F65F4B1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2033" y="6541200"/>
            <a:ext cx="1105344" cy="316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 b="1">
                <a:solidFill>
                  <a:schemeClr val="bg1"/>
                </a:solidFill>
                <a:latin typeface="+mj-lt"/>
              </a:defRPr>
            </a:lvl1pPr>
          </a:lstStyle>
          <a:p>
            <a:fld id="{3AAA9B72-71C0-7042-B490-D81E80BA9064}" type="datetime1">
              <a:rPr lang="da-DK" smtClean="0"/>
              <a:t>30.06.2025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09052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0000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9pPr>
    </p:titleStyle>
    <p:bodyStyle>
      <a:lvl1pPr marL="1980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14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2pPr>
      <a:lvl3pPr marL="6156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</a:defRPr>
      </a:lvl3pPr>
      <a:lvl4pPr marL="828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4pPr>
      <a:lvl5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5pPr>
      <a:lvl6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6pPr>
      <a:lvl7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7pPr>
      <a:lvl8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8pPr>
      <a:lvl9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68">
          <p15:clr>
            <a:srgbClr val="F26B43"/>
          </p15:clr>
        </p15:guide>
        <p15:guide id="4" orient="horz" pos="881">
          <p15:clr>
            <a:srgbClr val="F26B43"/>
          </p15:clr>
        </p15:guide>
        <p15:guide id="5" orient="horz" pos="1074">
          <p15:clr>
            <a:srgbClr val="F26B43"/>
          </p15:clr>
        </p15:guide>
        <p15:guide id="6" orient="horz" pos="393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8.emf"/><Relationship Id="rId4" Type="http://schemas.openxmlformats.org/officeDocument/2006/relationships/image" Target="../media/image7.em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emf"/><Relationship Id="rId3" Type="http://schemas.openxmlformats.org/officeDocument/2006/relationships/image" Target="../media/image10.emf"/><Relationship Id="rId7" Type="http://schemas.openxmlformats.org/officeDocument/2006/relationships/image" Target="../media/image14.emf"/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3.emf"/><Relationship Id="rId5" Type="http://schemas.openxmlformats.org/officeDocument/2006/relationships/image" Target="../media/image12.emf"/><Relationship Id="rId4" Type="http://schemas.openxmlformats.org/officeDocument/2006/relationships/image" Target="../media/image11.emf"/><Relationship Id="rId9" Type="http://schemas.openxmlformats.org/officeDocument/2006/relationships/image" Target="../media/image16.e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emf"/><Relationship Id="rId3" Type="http://schemas.openxmlformats.org/officeDocument/2006/relationships/image" Target="../media/image18.emf"/><Relationship Id="rId7" Type="http://schemas.openxmlformats.org/officeDocument/2006/relationships/image" Target="../media/image22.emf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1.emf"/><Relationship Id="rId5" Type="http://schemas.openxmlformats.org/officeDocument/2006/relationships/image" Target="../media/image20.emf"/><Relationship Id="rId4" Type="http://schemas.openxmlformats.org/officeDocument/2006/relationships/image" Target="../media/image19.emf"/><Relationship Id="rId9" Type="http://schemas.openxmlformats.org/officeDocument/2006/relationships/image" Target="../media/image2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71CBCB1-56DD-3402-F24A-A2B4B5A6AE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3298" y="1713298"/>
            <a:ext cx="2695074" cy="269507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C2CA5BD-BD53-4F91-58BA-5D07462665E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3EA872-A674-449B-A120-B97244F8E91D}" type="slidenum">
              <a:rPr kumimoji="0" lang="en-GB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CD40D6-83A6-8797-F381-15DCF88114D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1051F6-884E-4D46-AD5F-8A730B377BAA}" type="datetime1">
              <a:rPr kumimoji="0" lang="da-DK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30.06.2025</a:t>
            </a:fld>
            <a:endParaRPr kumimoji="0" lang="en-GB" sz="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C7CCA4-BA71-EC72-D005-D6D6ABA57B83}"/>
              </a:ext>
            </a:extLst>
          </p:cNvPr>
          <p:cNvSpPr txBox="1"/>
          <p:nvPr/>
        </p:nvSpPr>
        <p:spPr>
          <a:xfrm>
            <a:off x="1084729" y="475129"/>
            <a:ext cx="85921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 figure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23A182-E8FD-56F0-1A84-269923C11BDF}"/>
              </a:ext>
            </a:extLst>
          </p:cNvPr>
          <p:cNvSpPr txBox="1"/>
          <p:nvPr/>
        </p:nvSpPr>
        <p:spPr>
          <a:xfrm>
            <a:off x="10309412" y="358588"/>
            <a:ext cx="102592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26.6.2025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07A59219-5D8A-AFF3-56E6-4A4A204033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3969" y="1716695"/>
            <a:ext cx="2683482" cy="2683482"/>
          </a:xfrm>
          <a:prstGeom prst="rect">
            <a:avLst/>
          </a:prstGeom>
        </p:spPr>
      </p:pic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BFA4B51B-CBBB-097E-7B3B-F253854773B9}"/>
              </a:ext>
            </a:extLst>
          </p:cNvPr>
          <p:cNvCxnSpPr/>
          <p:nvPr/>
        </p:nvCxnSpPr>
        <p:spPr bwMode="auto">
          <a:xfrm>
            <a:off x="-2029331" y="5584716"/>
            <a:ext cx="36576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66232A66-F12A-FE61-F70D-C246BD87CB2E}"/>
              </a:ext>
            </a:extLst>
          </p:cNvPr>
          <p:cNvCxnSpPr/>
          <p:nvPr/>
        </p:nvCxnSpPr>
        <p:spPr bwMode="auto">
          <a:xfrm>
            <a:off x="510557" y="3050791"/>
            <a:ext cx="0" cy="304534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94B9E1ED-B328-8ECE-81C9-AFD6E7CD7B07}"/>
              </a:ext>
            </a:extLst>
          </p:cNvPr>
          <p:cNvCxnSpPr/>
          <p:nvPr/>
        </p:nvCxnSpPr>
        <p:spPr bwMode="auto">
          <a:xfrm>
            <a:off x="-178626" y="3907926"/>
            <a:ext cx="0" cy="304534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6D411D1-6B49-8F7A-4185-E32D19C2E5B4}"/>
              </a:ext>
            </a:extLst>
          </p:cNvPr>
          <p:cNvSpPr txBox="1"/>
          <p:nvPr/>
        </p:nvSpPr>
        <p:spPr>
          <a:xfrm>
            <a:off x="2433178" y="478129"/>
            <a:ext cx="2503891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GB" sz="1100" dirty="0">
                <a:latin typeface="+mn-lt"/>
              </a:rPr>
              <a:t>S</a:t>
            </a:r>
            <a:r>
              <a:rPr lang="en-DK" sz="1100" dirty="0">
                <a:latin typeface="+mn-lt"/>
              </a:rPr>
              <a:t>elect. </a:t>
            </a:r>
            <a:r>
              <a:rPr lang="en-GB" sz="1100" dirty="0">
                <a:latin typeface="+mn-lt"/>
              </a:rPr>
              <a:t>R</a:t>
            </a:r>
            <a:r>
              <a:rPr lang="en-DK" sz="1100" dirty="0">
                <a:latin typeface="+mn-lt"/>
              </a:rPr>
              <a:t>ight click “save as picture” pdf.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B30AC49-C240-DACC-8B13-FD26197882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8051" y="1707682"/>
            <a:ext cx="2700689" cy="270068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33973CB-904D-D581-9441-AE42BF5384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8108" y="1718911"/>
            <a:ext cx="2679834" cy="2679834"/>
          </a:xfrm>
          <a:prstGeom prst="rect">
            <a:avLst/>
          </a:prstGeom>
        </p:spPr>
      </p:pic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F88F9DB-76E4-9B3A-EE72-B8C29CD1A939}"/>
              </a:ext>
            </a:extLst>
          </p:cNvPr>
          <p:cNvCxnSpPr/>
          <p:nvPr/>
        </p:nvCxnSpPr>
        <p:spPr bwMode="auto">
          <a:xfrm>
            <a:off x="206802" y="5625827"/>
            <a:ext cx="10429113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A2603676-9EBA-012C-101D-EAF1986608D1}"/>
              </a:ext>
            </a:extLst>
          </p:cNvPr>
          <p:cNvSpPr txBox="1"/>
          <p:nvPr/>
        </p:nvSpPr>
        <p:spPr>
          <a:xfrm>
            <a:off x="2149953" y="1851817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B888966-189A-AF10-537F-C4B3369E3443}"/>
              </a:ext>
            </a:extLst>
          </p:cNvPr>
          <p:cNvSpPr txBox="1"/>
          <p:nvPr/>
        </p:nvSpPr>
        <p:spPr>
          <a:xfrm>
            <a:off x="4599024" y="1847286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695E01-6D64-B750-3810-945F24B286F6}"/>
              </a:ext>
            </a:extLst>
          </p:cNvPr>
          <p:cNvSpPr txBox="1"/>
          <p:nvPr/>
        </p:nvSpPr>
        <p:spPr>
          <a:xfrm>
            <a:off x="7056464" y="1852371"/>
            <a:ext cx="11702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0AE935B-8983-7BC5-C056-22F967F374C1}"/>
              </a:ext>
            </a:extLst>
          </p:cNvPr>
          <p:cNvSpPr txBox="1"/>
          <p:nvPr/>
        </p:nvSpPr>
        <p:spPr>
          <a:xfrm>
            <a:off x="9508815" y="1862001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5C55C5-31A9-4AEF-6AE6-10A2D9160258}"/>
              </a:ext>
            </a:extLst>
          </p:cNvPr>
          <p:cNvSpPr txBox="1"/>
          <p:nvPr/>
        </p:nvSpPr>
        <p:spPr>
          <a:xfrm>
            <a:off x="6379535" y="893135"/>
            <a:ext cx="2244204" cy="60529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DK" dirty="0">
                <a:latin typeface="+mn-lt"/>
              </a:rPr>
              <a:t>HammerNorskov2000</a:t>
            </a:r>
          </a:p>
          <a:p>
            <a:pPr algn="l">
              <a:spcBef>
                <a:spcPts val="432"/>
              </a:spcBef>
            </a:pPr>
            <a:r>
              <a:rPr lang="en-DK" dirty="0"/>
              <a:t>parameters</a:t>
            </a:r>
            <a:endParaRPr lang="en-DK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29336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7F7DD-92EF-197D-09DE-18CCADCC6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70C9FE3-565B-BC7E-042C-C4B2D9D8D50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3EA872-A674-449B-A120-B97244F8E91D}" type="slidenum">
              <a:rPr kumimoji="0" lang="en-GB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317679-B714-28E3-EB42-23F034168399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1051F6-884E-4D46-AD5F-8A730B377BAA}" type="datetime1">
              <a:rPr kumimoji="0" lang="da-DK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30.06.2025</a:t>
            </a:fld>
            <a:endParaRPr kumimoji="0" lang="en-GB" sz="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D03F25-7EE6-CC59-E8E7-E35A44122203}"/>
              </a:ext>
            </a:extLst>
          </p:cNvPr>
          <p:cNvSpPr txBox="1"/>
          <p:nvPr/>
        </p:nvSpPr>
        <p:spPr>
          <a:xfrm>
            <a:off x="1084729" y="475129"/>
            <a:ext cx="85921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 figure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80C150-527E-AA51-3970-E08F2E83FB71}"/>
              </a:ext>
            </a:extLst>
          </p:cNvPr>
          <p:cNvSpPr txBox="1"/>
          <p:nvPr/>
        </p:nvSpPr>
        <p:spPr>
          <a:xfrm>
            <a:off x="10309412" y="358588"/>
            <a:ext cx="102592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26.6.2025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3DCF24D9-BE63-0AB3-6BDD-D002A6910D7E}"/>
              </a:ext>
            </a:extLst>
          </p:cNvPr>
          <p:cNvCxnSpPr/>
          <p:nvPr/>
        </p:nvCxnSpPr>
        <p:spPr bwMode="auto">
          <a:xfrm>
            <a:off x="-2029331" y="5584716"/>
            <a:ext cx="36576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F8B1953-3DE4-0D66-3E7F-5A485EC03705}"/>
              </a:ext>
            </a:extLst>
          </p:cNvPr>
          <p:cNvCxnSpPr/>
          <p:nvPr/>
        </p:nvCxnSpPr>
        <p:spPr bwMode="auto">
          <a:xfrm>
            <a:off x="510557" y="3050791"/>
            <a:ext cx="0" cy="304534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62710348-BEF3-98A4-16BF-C0276AE0BD7B}"/>
              </a:ext>
            </a:extLst>
          </p:cNvPr>
          <p:cNvCxnSpPr/>
          <p:nvPr/>
        </p:nvCxnSpPr>
        <p:spPr bwMode="auto">
          <a:xfrm>
            <a:off x="-178626" y="3907926"/>
            <a:ext cx="0" cy="304534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5E14FD8-82E2-644F-49BF-C893425254BE}"/>
              </a:ext>
            </a:extLst>
          </p:cNvPr>
          <p:cNvSpPr txBox="1"/>
          <p:nvPr/>
        </p:nvSpPr>
        <p:spPr>
          <a:xfrm>
            <a:off x="2433178" y="478129"/>
            <a:ext cx="2503891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GB" sz="1100" dirty="0">
                <a:latin typeface="+mn-lt"/>
              </a:rPr>
              <a:t>S</a:t>
            </a:r>
            <a:r>
              <a:rPr lang="en-DK" sz="1100" dirty="0">
                <a:latin typeface="+mn-lt"/>
              </a:rPr>
              <a:t>elect. </a:t>
            </a:r>
            <a:r>
              <a:rPr lang="en-GB" sz="1100" dirty="0">
                <a:latin typeface="+mn-lt"/>
              </a:rPr>
              <a:t>R</a:t>
            </a:r>
            <a:r>
              <a:rPr lang="en-DK" sz="1100" dirty="0">
                <a:latin typeface="+mn-lt"/>
              </a:rPr>
              <a:t>ight click “save as picture” pdf.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3F0046-3362-09C0-9D4A-89183028042A}"/>
              </a:ext>
            </a:extLst>
          </p:cNvPr>
          <p:cNvSpPr txBox="1"/>
          <p:nvPr/>
        </p:nvSpPr>
        <p:spPr>
          <a:xfrm>
            <a:off x="5847907" y="871870"/>
            <a:ext cx="266746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DK" dirty="0">
                <a:latin typeface="+mn-lt"/>
              </a:rPr>
              <a:t>Vojvodic 2014 parameters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9A7E0D6-2F86-E44D-F1B0-0FD4E5A66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559" y="2088664"/>
            <a:ext cx="2286000" cy="2286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C993D99-02BD-55CE-A2F0-D0CBF7A1F6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1242" y="2090394"/>
            <a:ext cx="2286000" cy="2286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07CB37F-A7F0-013F-252B-53CE29FA36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0537" y="2088683"/>
            <a:ext cx="2286000" cy="2286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FA8AD6A-E18E-76AF-6209-660593B84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5374" y="2093054"/>
            <a:ext cx="2286000" cy="2286000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40C3D8DE-1A4B-4CE2-71FB-F5AB8D7E3E79}"/>
              </a:ext>
            </a:extLst>
          </p:cNvPr>
          <p:cNvSpPr txBox="1"/>
          <p:nvPr/>
        </p:nvSpPr>
        <p:spPr>
          <a:xfrm>
            <a:off x="2309344" y="2036375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7296FF5-E0D8-FDD5-4378-1CA00E7B5559}"/>
              </a:ext>
            </a:extLst>
          </p:cNvPr>
          <p:cNvSpPr txBox="1"/>
          <p:nvPr/>
        </p:nvSpPr>
        <p:spPr>
          <a:xfrm>
            <a:off x="4372521" y="2040233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BA066-FC51-8955-C0CA-B1937E0C3A6B}"/>
              </a:ext>
            </a:extLst>
          </p:cNvPr>
          <p:cNvSpPr txBox="1"/>
          <p:nvPr/>
        </p:nvSpPr>
        <p:spPr>
          <a:xfrm>
            <a:off x="6494401" y="2036929"/>
            <a:ext cx="11702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E841A6-EF95-3A9C-70A1-B5986FF786C2}"/>
              </a:ext>
            </a:extLst>
          </p:cNvPr>
          <p:cNvSpPr txBox="1"/>
          <p:nvPr/>
        </p:nvSpPr>
        <p:spPr>
          <a:xfrm>
            <a:off x="8560858" y="2046559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d)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78EBE610-7971-6B74-4582-6174E72867B9}"/>
              </a:ext>
            </a:extLst>
          </p:cNvPr>
          <p:cNvCxnSpPr/>
          <p:nvPr/>
        </p:nvCxnSpPr>
        <p:spPr bwMode="auto">
          <a:xfrm>
            <a:off x="978590" y="1590722"/>
            <a:ext cx="10429113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3101944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534565A-7977-BE43-9EAA-ECEA63B5F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C41477D0-ADBA-A357-074E-3BD062410C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94" r="6443" b="12245"/>
          <a:stretch>
            <a:fillRect/>
          </a:stretch>
        </p:blipFill>
        <p:spPr>
          <a:xfrm>
            <a:off x="3599847" y="1328541"/>
            <a:ext cx="2396689" cy="2348312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6C0D22D-9F72-300E-69B6-284754684DD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3EA872-A674-449B-A120-B97244F8E91D}" type="slidenum">
              <a:rPr kumimoji="0" lang="en-GB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GB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6FB7BC-5A4A-C211-4C6A-FF72ED1479A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1051F6-884E-4D46-AD5F-8A730B377BAA}" type="datetime1">
              <a:rPr kumimoji="0" lang="da-DK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30.06.2025</a:t>
            </a:fld>
            <a:endParaRPr kumimoji="0" lang="en-GB" sz="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3946B5-A2A4-A0DC-77D2-B124BA32CEAE}"/>
              </a:ext>
            </a:extLst>
          </p:cNvPr>
          <p:cNvSpPr txBox="1"/>
          <p:nvPr/>
        </p:nvSpPr>
        <p:spPr>
          <a:xfrm>
            <a:off x="10309412" y="358588"/>
            <a:ext cx="102592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26.6.2025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7332508C-8914-BC2D-CD7A-DECF4C5C8E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548"/>
          <a:stretch>
            <a:fillRect/>
          </a:stretch>
        </p:blipFill>
        <p:spPr>
          <a:xfrm>
            <a:off x="1118907" y="1318288"/>
            <a:ext cx="2480939" cy="2683482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B6C5F0DF-26E8-29E8-6310-814D35E2AF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510" y="3676122"/>
            <a:ext cx="2683482" cy="2683482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24AB90C8-B9DD-9228-7112-F963AC52F8E9}"/>
              </a:ext>
            </a:extLst>
          </p:cNvPr>
          <p:cNvSpPr txBox="1"/>
          <p:nvPr/>
        </p:nvSpPr>
        <p:spPr>
          <a:xfrm>
            <a:off x="1307882" y="1490588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a)</a:t>
            </a: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F9B7B564-4A69-3C23-051C-5542C7DC1F9A}"/>
              </a:ext>
            </a:extLst>
          </p:cNvPr>
          <p:cNvCxnSpPr/>
          <p:nvPr/>
        </p:nvCxnSpPr>
        <p:spPr bwMode="auto">
          <a:xfrm>
            <a:off x="283387" y="2300507"/>
            <a:ext cx="0" cy="304534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3FFFC1A-FDC8-0AAF-FC30-8B229AFBDC3A}"/>
              </a:ext>
            </a:extLst>
          </p:cNvPr>
          <p:cNvSpPr txBox="1"/>
          <p:nvPr/>
        </p:nvSpPr>
        <p:spPr>
          <a:xfrm>
            <a:off x="4283243" y="308008"/>
            <a:ext cx="2503891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GB" sz="1100" dirty="0">
                <a:latin typeface="+mn-lt"/>
              </a:rPr>
              <a:t>S</a:t>
            </a:r>
            <a:r>
              <a:rPr lang="en-DK" sz="1100" dirty="0">
                <a:latin typeface="+mn-lt"/>
              </a:rPr>
              <a:t>elect. </a:t>
            </a:r>
            <a:r>
              <a:rPr lang="en-GB" sz="1100" dirty="0">
                <a:latin typeface="+mn-lt"/>
              </a:rPr>
              <a:t>R</a:t>
            </a:r>
            <a:r>
              <a:rPr lang="en-DK" sz="1100" dirty="0">
                <a:latin typeface="+mn-lt"/>
              </a:rPr>
              <a:t>ight click “save as picture” pdf.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4CCE5AA-E001-5952-1CDE-7F2C641EC02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8291"/>
          <a:stretch>
            <a:fillRect/>
          </a:stretch>
        </p:blipFill>
        <p:spPr>
          <a:xfrm>
            <a:off x="5944399" y="3682463"/>
            <a:ext cx="2448828" cy="2670210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992ED030-3538-4E5E-B5BE-60584E3415D6}"/>
              </a:ext>
            </a:extLst>
          </p:cNvPr>
          <p:cNvSpPr txBox="1"/>
          <p:nvPr/>
        </p:nvSpPr>
        <p:spPr>
          <a:xfrm>
            <a:off x="3750252" y="1511164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6656B4E-D452-4E1C-91FE-245F0C8B23C1}"/>
              </a:ext>
            </a:extLst>
          </p:cNvPr>
          <p:cNvSpPr txBox="1"/>
          <p:nvPr/>
        </p:nvSpPr>
        <p:spPr>
          <a:xfrm>
            <a:off x="1288837" y="3835181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100" dirty="0">
                <a:solidFill>
                  <a:srgbClr val="000000"/>
                </a:solidFill>
                <a:latin typeface="Arial"/>
              </a:rPr>
              <a:t>e</a:t>
            </a: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E220B0C-0A14-263B-42DC-473EFE6C1FB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8651" b="11174"/>
          <a:stretch>
            <a:fillRect/>
          </a:stretch>
        </p:blipFill>
        <p:spPr>
          <a:xfrm>
            <a:off x="5954025" y="1324275"/>
            <a:ext cx="2439202" cy="2371827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55A6A2A9-C6B5-774E-9719-EECEC2AFEB43}"/>
              </a:ext>
            </a:extLst>
          </p:cNvPr>
          <p:cNvSpPr txBox="1"/>
          <p:nvPr/>
        </p:nvSpPr>
        <p:spPr>
          <a:xfrm>
            <a:off x="6142062" y="1496237"/>
            <a:ext cx="11702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D52692-04F1-F42F-5F15-BDC130C417F0}"/>
              </a:ext>
            </a:extLst>
          </p:cNvPr>
          <p:cNvSpPr txBox="1"/>
          <p:nvPr/>
        </p:nvSpPr>
        <p:spPr>
          <a:xfrm>
            <a:off x="6157616" y="3823952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g)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A2DE84C-BC15-CAFB-712B-FCB68FAADFE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8687" t="6734" r="6647" b="10350"/>
          <a:stretch>
            <a:fillRect/>
          </a:stretch>
        </p:blipFill>
        <p:spPr>
          <a:xfrm>
            <a:off x="3715350" y="3850105"/>
            <a:ext cx="2290001" cy="224268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253ADAB-595E-766B-EF17-C72E334DF34F}"/>
              </a:ext>
            </a:extLst>
          </p:cNvPr>
          <p:cNvSpPr txBox="1"/>
          <p:nvPr/>
        </p:nvSpPr>
        <p:spPr>
          <a:xfrm>
            <a:off x="3760926" y="3833577"/>
            <a:ext cx="8496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f)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7114B075-6843-67A9-232E-F43AA9B28A6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4251" t="5577" r="8200" b="12663"/>
          <a:stretch>
            <a:fillRect/>
          </a:stretch>
        </p:blipFill>
        <p:spPr>
          <a:xfrm>
            <a:off x="8431727" y="1472665"/>
            <a:ext cx="2329313" cy="217530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87C4FF51-484B-0737-E7FC-9AF86B4994C3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9677" t="6301" r="6754" b="12300"/>
          <a:stretch>
            <a:fillRect/>
          </a:stretch>
        </p:blipFill>
        <p:spPr>
          <a:xfrm>
            <a:off x="8566481" y="3859731"/>
            <a:ext cx="2223436" cy="2165684"/>
          </a:xfrm>
          <a:prstGeom prst="rect">
            <a:avLst/>
          </a:prstGeom>
        </p:spPr>
      </p:pic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B8B6FB8-6DE2-BED7-528E-1F91E6C83E49}"/>
              </a:ext>
            </a:extLst>
          </p:cNvPr>
          <p:cNvCxnSpPr/>
          <p:nvPr/>
        </p:nvCxnSpPr>
        <p:spPr bwMode="auto">
          <a:xfrm>
            <a:off x="12074754" y="919074"/>
            <a:ext cx="36576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63A33EBD-0421-6653-3C1F-7F4E48B0CB5C}"/>
              </a:ext>
            </a:extLst>
          </p:cNvPr>
          <p:cNvCxnSpPr/>
          <p:nvPr/>
        </p:nvCxnSpPr>
        <p:spPr bwMode="auto">
          <a:xfrm>
            <a:off x="709061" y="906840"/>
            <a:ext cx="8547234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ED330EF7-55DE-77DA-9003-8AD76E57D015}"/>
              </a:ext>
            </a:extLst>
          </p:cNvPr>
          <p:cNvCxnSpPr/>
          <p:nvPr/>
        </p:nvCxnSpPr>
        <p:spPr bwMode="auto">
          <a:xfrm>
            <a:off x="13081149" y="1645920"/>
            <a:ext cx="0" cy="48256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4EF3856-111B-31FF-26FB-F978723CC65D}"/>
              </a:ext>
            </a:extLst>
          </p:cNvPr>
          <p:cNvSpPr txBox="1"/>
          <p:nvPr/>
        </p:nvSpPr>
        <p:spPr>
          <a:xfrm>
            <a:off x="8496554" y="1504262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E85D7C-DC56-FCCF-D55B-E7BA0AAAE587}"/>
              </a:ext>
            </a:extLst>
          </p:cNvPr>
          <p:cNvSpPr txBox="1"/>
          <p:nvPr/>
        </p:nvSpPr>
        <p:spPr>
          <a:xfrm>
            <a:off x="8573557" y="3833577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100" dirty="0">
                <a:solidFill>
                  <a:srgbClr val="000000"/>
                </a:solidFill>
                <a:latin typeface="Arial"/>
              </a:rPr>
              <a:t>h</a:t>
            </a: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655169-7DCA-904E-A3A6-6354848CF411}"/>
              </a:ext>
            </a:extLst>
          </p:cNvPr>
          <p:cNvSpPr txBox="1"/>
          <p:nvPr/>
        </p:nvSpPr>
        <p:spPr>
          <a:xfrm>
            <a:off x="1084729" y="475129"/>
            <a:ext cx="85921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 figure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A5246B-234C-661F-139D-8EC6916B08A3}"/>
              </a:ext>
            </a:extLst>
          </p:cNvPr>
          <p:cNvSpPr txBox="1"/>
          <p:nvPr/>
        </p:nvSpPr>
        <p:spPr>
          <a:xfrm>
            <a:off x="6687880" y="563526"/>
            <a:ext cx="2244204" cy="60529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DK" dirty="0">
                <a:latin typeface="+mn-lt"/>
              </a:rPr>
              <a:t>HammerNorskov2000</a:t>
            </a:r>
          </a:p>
          <a:p>
            <a:pPr algn="l">
              <a:spcBef>
                <a:spcPts val="432"/>
              </a:spcBef>
            </a:pPr>
            <a:r>
              <a:rPr lang="en-DK" dirty="0"/>
              <a:t>parameters</a:t>
            </a:r>
            <a:endParaRPr lang="en-DK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043780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5AC39-5FEF-CCC7-296F-E8FC471E1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2E5D306-0F5E-1B91-B91B-D1E256D403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865" y="1743154"/>
            <a:ext cx="2286000" cy="2286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C5B4443-7D35-F99C-1540-1C4B2421BA7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03EA872-A674-449B-A120-B97244F8E91D}" type="slidenum">
              <a:rPr kumimoji="0" lang="en-GB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GB" sz="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9F119C-CA3B-8608-82A3-54E96E651A7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1051F6-884E-4D46-AD5F-8A730B377BAA}" type="datetime1">
              <a:rPr kumimoji="0" lang="da-DK" sz="700" b="1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30.06.2025</a:t>
            </a:fld>
            <a:endParaRPr kumimoji="0" lang="en-GB" sz="7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EE27A0-D661-1AA9-2532-281AF16F9C14}"/>
              </a:ext>
            </a:extLst>
          </p:cNvPr>
          <p:cNvSpPr txBox="1"/>
          <p:nvPr/>
        </p:nvSpPr>
        <p:spPr>
          <a:xfrm>
            <a:off x="10309412" y="358588"/>
            <a:ext cx="102592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26.6.2025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9BA3844-BE8C-5AE8-5378-610BD3D41057}"/>
              </a:ext>
            </a:extLst>
          </p:cNvPr>
          <p:cNvSpPr txBox="1"/>
          <p:nvPr/>
        </p:nvSpPr>
        <p:spPr>
          <a:xfrm>
            <a:off x="1274326" y="1649979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5AFBE6-AEEC-730A-10B0-1C657C3E43CB}"/>
              </a:ext>
            </a:extLst>
          </p:cNvPr>
          <p:cNvSpPr txBox="1"/>
          <p:nvPr/>
        </p:nvSpPr>
        <p:spPr>
          <a:xfrm>
            <a:off x="4283243" y="308008"/>
            <a:ext cx="2503891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GB" sz="1100" dirty="0">
                <a:latin typeface="+mn-lt"/>
              </a:rPr>
              <a:t>S</a:t>
            </a:r>
            <a:r>
              <a:rPr lang="en-DK" sz="1100" dirty="0">
                <a:latin typeface="+mn-lt"/>
              </a:rPr>
              <a:t>elect. </a:t>
            </a:r>
            <a:r>
              <a:rPr lang="en-GB" sz="1100" dirty="0">
                <a:latin typeface="+mn-lt"/>
              </a:rPr>
              <a:t>R</a:t>
            </a:r>
            <a:r>
              <a:rPr lang="en-DK" sz="1100" dirty="0">
                <a:latin typeface="+mn-lt"/>
              </a:rPr>
              <a:t>ight click “save as picture” pdf. 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8B1AE35-1F56-977D-08AE-EC84FF0509A5}"/>
              </a:ext>
            </a:extLst>
          </p:cNvPr>
          <p:cNvCxnSpPr/>
          <p:nvPr/>
        </p:nvCxnSpPr>
        <p:spPr bwMode="auto">
          <a:xfrm>
            <a:off x="12074754" y="919074"/>
            <a:ext cx="365760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5A2D55D1-77AB-B3D5-3551-11592AF81B5D}"/>
              </a:ext>
            </a:extLst>
          </p:cNvPr>
          <p:cNvCxnSpPr/>
          <p:nvPr/>
        </p:nvCxnSpPr>
        <p:spPr bwMode="auto">
          <a:xfrm>
            <a:off x="13081149" y="1645920"/>
            <a:ext cx="0" cy="48256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7E9B3CC-F19C-1CB3-33E2-183333DE650F}"/>
              </a:ext>
            </a:extLst>
          </p:cNvPr>
          <p:cNvSpPr txBox="1"/>
          <p:nvPr/>
        </p:nvSpPr>
        <p:spPr>
          <a:xfrm>
            <a:off x="1084729" y="475129"/>
            <a:ext cx="85921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 figure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1DFC1A8-9DC4-4AE7-A7D2-F4F3F42BFC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635" y="3928675"/>
            <a:ext cx="2286000" cy="2286000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066ED5DF-F98A-101E-9F10-D316644F8BF0}"/>
              </a:ext>
            </a:extLst>
          </p:cNvPr>
          <p:cNvSpPr txBox="1"/>
          <p:nvPr/>
        </p:nvSpPr>
        <p:spPr>
          <a:xfrm>
            <a:off x="1272059" y="3910683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100" dirty="0">
                <a:solidFill>
                  <a:srgbClr val="000000"/>
                </a:solidFill>
                <a:latin typeface="Arial"/>
              </a:rPr>
              <a:t>e</a:t>
            </a: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86612CF-EE64-84A8-49E3-737EB0AF78FF}"/>
              </a:ext>
            </a:extLst>
          </p:cNvPr>
          <p:cNvSpPr txBox="1"/>
          <p:nvPr/>
        </p:nvSpPr>
        <p:spPr>
          <a:xfrm>
            <a:off x="6678417" y="519532"/>
            <a:ext cx="2667462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>
              <a:spcBef>
                <a:spcPts val="432"/>
              </a:spcBef>
            </a:pPr>
            <a:r>
              <a:rPr lang="en-DK" dirty="0">
                <a:latin typeface="+mn-lt"/>
              </a:rPr>
              <a:t>Vojvodic 2014 parameters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0721840A-ED52-716F-B7B9-A21D9706E046}"/>
              </a:ext>
            </a:extLst>
          </p:cNvPr>
          <p:cNvCxnSpPr/>
          <p:nvPr/>
        </p:nvCxnSpPr>
        <p:spPr bwMode="auto">
          <a:xfrm>
            <a:off x="1120120" y="1225621"/>
            <a:ext cx="8547234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8CA13391-A333-981D-A1D6-394B71DDE948}"/>
              </a:ext>
            </a:extLst>
          </p:cNvPr>
          <p:cNvCxnSpPr/>
          <p:nvPr/>
        </p:nvCxnSpPr>
        <p:spPr bwMode="auto">
          <a:xfrm>
            <a:off x="11306522" y="1662943"/>
            <a:ext cx="0" cy="3045349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D70817FA-B055-8D75-F3B3-D64A26D314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5333" y="1750541"/>
            <a:ext cx="2286000" cy="2286000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BB3652AD-0761-211A-9CAB-D4E3AFBA8E1C}"/>
              </a:ext>
            </a:extLst>
          </p:cNvPr>
          <p:cNvSpPr txBox="1"/>
          <p:nvPr/>
        </p:nvSpPr>
        <p:spPr>
          <a:xfrm>
            <a:off x="3355969" y="1653777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b)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4D14EEFE-5E08-8543-52A1-FC4613CB25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8103" y="3936062"/>
            <a:ext cx="2286000" cy="2286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8B37457-4DF9-00F3-F8E2-343EBBB238FD}"/>
              </a:ext>
            </a:extLst>
          </p:cNvPr>
          <p:cNvSpPr txBox="1"/>
          <p:nvPr/>
        </p:nvSpPr>
        <p:spPr>
          <a:xfrm>
            <a:off x="3400199" y="3909079"/>
            <a:ext cx="8496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f)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C7D4CCB-9DB0-DAFC-2AF8-C2BD02C154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17355" y="1756928"/>
            <a:ext cx="2286000" cy="2286000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72E0F94E-1A2D-30A3-E40B-142A6654314D}"/>
              </a:ext>
            </a:extLst>
          </p:cNvPr>
          <p:cNvSpPr txBox="1"/>
          <p:nvPr/>
        </p:nvSpPr>
        <p:spPr>
          <a:xfrm>
            <a:off x="5479331" y="1664017"/>
            <a:ext cx="117020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c)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E24CF153-E933-5546-76EE-688A89BA878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13347" y="3934059"/>
            <a:ext cx="2286000" cy="2286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2E464F2-9237-3CF1-F1D5-909A057E5BDC}"/>
              </a:ext>
            </a:extLst>
          </p:cNvPr>
          <p:cNvSpPr txBox="1"/>
          <p:nvPr/>
        </p:nvSpPr>
        <p:spPr>
          <a:xfrm>
            <a:off x="5478107" y="3899454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g)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8C6FB3CE-D169-DCE4-9D15-AFDCD004786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7752" y="1757493"/>
            <a:ext cx="2286000" cy="22860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077D272A-BE32-F9D1-2952-D2203DD61187}"/>
              </a:ext>
            </a:extLst>
          </p:cNvPr>
          <p:cNvSpPr txBox="1"/>
          <p:nvPr/>
        </p:nvSpPr>
        <p:spPr>
          <a:xfrm>
            <a:off x="7598931" y="1655264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d)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79AC53A5-56B7-7B72-0BAB-7A9390DADD7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18362" y="3937630"/>
            <a:ext cx="2286000" cy="2286000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B632764-D8EE-FCF9-ABED-9ED3E0BBD65B}"/>
              </a:ext>
            </a:extLst>
          </p:cNvPr>
          <p:cNvSpPr txBox="1"/>
          <p:nvPr/>
        </p:nvSpPr>
        <p:spPr>
          <a:xfrm>
            <a:off x="7642378" y="3909079"/>
            <a:ext cx="12503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432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100" dirty="0">
                <a:solidFill>
                  <a:srgbClr val="000000"/>
                </a:solidFill>
                <a:latin typeface="Arial"/>
              </a:rPr>
              <a:t>h</a:t>
            </a:r>
            <a:r>
              <a:rPr kumimoji="0" lang="en-DK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422050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heme/theme1.xml><?xml version="1.0" encoding="utf-8"?>
<a:theme xmlns:a="http://schemas.openxmlformats.org/drawingml/2006/main" name="1_Blank">
  <a:themeElements>
    <a:clrScheme name="DTU">
      <a:dk1>
        <a:srgbClr val="000000"/>
      </a:dk1>
      <a:lt1>
        <a:srgbClr val="FFFFFF"/>
      </a:lt1>
      <a:dk2>
        <a:srgbClr val="990000"/>
      </a:dk2>
      <a:lt2>
        <a:srgbClr val="79238E"/>
      </a:lt2>
      <a:accent1>
        <a:srgbClr val="990000"/>
      </a:accent1>
      <a:accent2>
        <a:srgbClr val="2F3EEA"/>
      </a:accent2>
      <a:accent3>
        <a:srgbClr val="1FD082"/>
      </a:accent3>
      <a:accent4>
        <a:srgbClr val="171748"/>
      </a:accent4>
      <a:accent5>
        <a:srgbClr val="F6D04D"/>
      </a:accent5>
      <a:accent6>
        <a:srgbClr val="FC7634"/>
      </a:accent6>
      <a:hlink>
        <a:srgbClr val="2F3EEA"/>
      </a:hlink>
      <a:folHlink>
        <a:srgbClr val="990000"/>
      </a:folHlink>
    </a:clrScheme>
    <a:fontScheme name="DT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9525" cap="flat" cmpd="sng" algn="ctr">
          <a:solidFill>
            <a:schemeClr val="accent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ts val="432"/>
          </a:spcBef>
          <a:spcAft>
            <a:spcPct val="0"/>
          </a:spcAft>
          <a:buClrTx/>
          <a:buSzTx/>
          <a:buFontTx/>
          <a:buNone/>
          <a:tabLst/>
          <a:defRPr kumimoji="0" sz="1600" b="0" i="0" u="none" strike="noStrike" cap="none" normalizeH="0" baseline="0" dirty="0" err="1" smtClean="0">
            <a:ln>
              <a:noFill/>
            </a:ln>
            <a:solidFill>
              <a:srgbClr val="FFFFFF"/>
            </a:solidFill>
            <a:effectLst/>
            <a:latin typeface="+mn-lt"/>
            <a:ea typeface="ＭＳ Ｐゴシック" pitchFamily="-80" charset="-128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 algn="l">
          <a:spcBef>
            <a:spcPts val="432"/>
          </a:spcBef>
          <a:defRPr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TU Template 16_9 - Corporate red-ENG.potx" id="{ED70A225-5B60-42AC-912C-67898019C42C}" vid="{E9106579-58D4-45CA-A6E9-5E2F157EFB5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130</Words>
  <Application>Microsoft Macintosh PowerPoint</Application>
  <PresentationFormat>Widescreen</PresentationFormat>
  <Paragraphs>50</Paragraphs>
  <Slides>4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Verdana</vt:lpstr>
      <vt:lpstr>1_Blank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Simiam Andreas Ghan</dc:creator>
  <cp:lastModifiedBy>Simiam Andreas Ghan</cp:lastModifiedBy>
  <cp:revision>11</cp:revision>
  <dcterms:created xsi:type="dcterms:W3CDTF">2025-06-26T11:04:15Z</dcterms:created>
  <dcterms:modified xsi:type="dcterms:W3CDTF">2025-06-30T11:40:26Z</dcterms:modified>
</cp:coreProperties>
</file>