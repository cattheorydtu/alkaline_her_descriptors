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1654" r:id="rId2"/>
    <p:sldId id="1656" r:id="rId3"/>
    <p:sldId id="1653" r:id="rId4"/>
    <p:sldId id="1652" r:id="rId5"/>
    <p:sldId id="1657" r:id="rId6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52"/>
    <p:restoredTop sz="94645"/>
  </p:normalViewPr>
  <p:slideViewPr>
    <p:cSldViewPr snapToGrid="0">
      <p:cViewPr varScale="1">
        <p:scale>
          <a:sx n="133" d="100"/>
          <a:sy n="133" d="100"/>
        </p:scale>
        <p:origin x="2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33" y="252000"/>
            <a:ext cx="419666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92" y="3545117"/>
            <a:ext cx="10841439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104" y="1704975"/>
            <a:ext cx="10841439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D20B1590-C678-8C58-E52B-B18894B3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25CB4DB-17C7-3C47-B8FC-CA8DAA57CD16}" type="datetime1">
              <a:rPr lang="da-DK" smtClean="0"/>
              <a:t>19.06.2025</a:t>
            </a:fld>
            <a:endParaRPr lang="en-GB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DDBEE1B-0FAB-7889-72A5-061AD0D7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03C35D72-EC55-2048-3021-46C8BB45CA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38355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92" y="3545117"/>
            <a:ext cx="10841439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104" y="1704975"/>
            <a:ext cx="10841439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2D8C74A-38EC-3840-AB49-1E0C4B490A1A}" type="datetime1">
              <a:rPr lang="da-DK" smtClean="0"/>
              <a:t>19.06.2025</a:t>
            </a:fld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59035397-9F37-0FF7-450F-ADC8DCD898E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01768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031" y="1706400"/>
            <a:ext cx="9313586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51A98B0-BE60-8545-8980-4D728E764AD9}" type="datetime1">
              <a:rPr lang="da-DK" smtClean="0"/>
              <a:t>19.06.2025</a:t>
            </a:fld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0C0EDF8-2CBF-4FF5-56B7-184EC333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60430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>
          <p15:clr>
            <a:srgbClr val="F26B43"/>
          </p15:clr>
        </p15:guide>
        <p15:guide id="2" pos="1117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957" y="426127"/>
            <a:ext cx="9313586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5032" y="1706399"/>
            <a:ext cx="4410751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870" y="1706399"/>
            <a:ext cx="4409674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DB094-8FAE-C677-71FF-C9574514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85C236E-1C30-674C-B6D0-A0D07779EAB9}" type="datetime1">
              <a:rPr lang="da-DK" smtClean="0"/>
              <a:t>19.06.2025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EBB58-CCF5-8D0B-B0A3-EB326A79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47D44D2-EBA3-A211-09B8-DBF6523CB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42576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957" y="426127"/>
            <a:ext cx="6049459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957" y="1706328"/>
            <a:ext cx="6049459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2298" y="849734"/>
            <a:ext cx="3859702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2298" y="3563718"/>
            <a:ext cx="3859702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/>
          <a:p>
            <a:fld id="{E9E1F3A7-0396-684C-9353-3AA45095AA71}" type="datetime1">
              <a:rPr lang="da-DK" smtClean="0"/>
              <a:t>19.06.2025</a:t>
            </a:fld>
            <a:endParaRPr lang="en-GB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3CB561F5-56DA-E113-07A9-31399910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41547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>
          <p15:clr>
            <a:srgbClr val="F26B43"/>
          </p15:clr>
        </p15:guide>
        <p15:guide id="2" pos="5247">
          <p15:clr>
            <a:srgbClr val="F26B43"/>
          </p15:clr>
        </p15:guide>
        <p15:guide id="3" pos="1117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909" y="426127"/>
            <a:ext cx="686663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909" y="1706328"/>
            <a:ext cx="6866634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483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483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/>
          <a:p>
            <a:fld id="{87452FCF-DB2A-5F45-B650-526B780F2213}" type="datetime1">
              <a:rPr lang="da-DK" smtClean="0"/>
              <a:t>19.06.2025</a:t>
            </a:fld>
            <a:endParaRPr lang="en-GB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EAEED2BD-CBC4-E0C7-4ADD-3851AF04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68336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>
          <p15:clr>
            <a:srgbClr val="F26B43"/>
          </p15:clr>
        </p15:guide>
        <p15:guide id="2" pos="2660">
          <p15:clr>
            <a:srgbClr val="F26B43"/>
          </p15:clr>
        </p15:guide>
        <p15:guide id="3" pos="2335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82" y="980728"/>
            <a:ext cx="3740887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82" y="4407151"/>
            <a:ext cx="3740887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3300" y="979201"/>
            <a:ext cx="3740887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3300" y="4406900"/>
            <a:ext cx="3740888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8917" y="979201"/>
            <a:ext cx="3740887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8917" y="4406900"/>
            <a:ext cx="3740887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82" y="1546282"/>
            <a:ext cx="3740887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699" y="1548581"/>
            <a:ext cx="3740887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9715" y="1546282"/>
            <a:ext cx="3740887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/>
          <a:p>
            <a:fld id="{48E6AEDC-D177-4447-9167-1BF6F74D72EE}" type="datetime1">
              <a:rPr lang="da-DK" smtClean="0"/>
              <a:t>19.06.2025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81C81-370B-04F9-300E-B3424D15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79468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/>
          <a:p>
            <a:fld id="{9A1051F6-884E-4D46-AD5F-8A730B377BAA}" type="datetime1">
              <a:rPr lang="da-DK" smtClean="0"/>
              <a:t>19.06.2025</a:t>
            </a:fld>
            <a:endParaRPr lang="en-GB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261A0643-A405-FE19-C467-403FA1E66AD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5088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043B6-861B-7701-CEE2-6FF736589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2399B-5184-32B1-0AFF-6181B3E903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E5994F3-19EB-214E-985D-C72A9F0F1D85}" type="datetime1">
              <a:rPr lang="da-DK" smtClean="0"/>
              <a:t>19.06.2025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FB6FF-0335-FEB5-42B3-51F8618FB96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0306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4787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420B1B64-6903-8D45-8D2A-9338C2B7AC44}" type="datetime1">
              <a:rPr lang="da-DK" smtClean="0"/>
              <a:t>19.06.2025</a:t>
            </a:fld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Simiam Ghan | sangh@dtu.dk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1174" y="1651373"/>
            <a:ext cx="2388634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23498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4787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1174" y="1651373"/>
            <a:ext cx="2388634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D05A487E-05B4-B647-BDD8-699F9077B661}" type="datetime1">
              <a:rPr lang="da-DK" smtClean="0"/>
              <a:t>19.06.2025</a:t>
            </a:fld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Simiam Ghan | sangh@dtu.dk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4787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4787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722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C2D-1E52-C849-8333-52FCAA6DEEC6}" type="datetimeFigureOut">
              <a:rPr lang="en-DK" smtClean="0"/>
              <a:t>19/06/2025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C9E5-BCEE-8249-9AAA-FAA79127D49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7563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4787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4"/>
            </p:custDataLst>
          </p:nvPr>
        </p:nvSpPr>
        <p:spPr bwMode="auto">
          <a:xfrm>
            <a:off x="252033" y="252000"/>
            <a:ext cx="419666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/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957" y="426127"/>
            <a:ext cx="9313586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957" y="1706328"/>
            <a:ext cx="9313586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958" y="6541200"/>
            <a:ext cx="3397513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96" y="6541200"/>
            <a:ext cx="1104157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binding&quot;:&quot;Form.PresentationTitle&quot;,&quot;type&quot;:&quot;text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81245" y="5892614"/>
            <a:ext cx="5496664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da-DK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4787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3AAA9B72-71C0-7042-B490-D81E80BA9064}" type="datetime1">
              <a:rPr lang="da-DK" smtClean="0"/>
              <a:t>19.06.2025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90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>
          <p15:clr>
            <a:srgbClr val="F26B43"/>
          </p15:clr>
        </p15:guide>
        <p15:guide id="4" orient="horz" pos="881">
          <p15:clr>
            <a:srgbClr val="F26B43"/>
          </p15:clr>
        </p15:guide>
        <p15:guide id="5" orient="horz" pos="1074">
          <p15:clr>
            <a:srgbClr val="F26B43"/>
          </p15:clr>
        </p15:guide>
        <p15:guide id="6" orient="horz" pos="39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B11754-1F20-5735-E4C4-8435748569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D658C-E887-A6C4-6B72-2F4AD28C9F4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AB637-3C6B-4E1C-AF06-0FE6857F7BA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Simiam Ghan | sangh@dtu.dk</a:t>
            </a:r>
            <a:endParaRPr kumimoji="0" lang="da-DK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343AA-3162-1E11-F1BE-0BD8A035E8A1}"/>
              </a:ext>
            </a:extLst>
          </p:cNvPr>
          <p:cNvSpPr txBox="1"/>
          <p:nvPr/>
        </p:nvSpPr>
        <p:spPr>
          <a:xfrm>
            <a:off x="1013012" y="663389"/>
            <a:ext cx="369331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Htop vs Hfcc as descriptors for HER</a:t>
            </a:r>
          </a:p>
        </p:txBody>
      </p:sp>
      <p:pic>
        <p:nvPicPr>
          <p:cNvPr id="18" name="Picture 17" descr="A diagram of a graph&#10;&#10;AI-generated content may be incorrect.">
            <a:extLst>
              <a:ext uri="{FF2B5EF4-FFF2-40B4-BE49-F238E27FC236}">
                <a16:creationId xmlns:a16="http://schemas.microsoft.com/office/drawing/2014/main" id="{3C427761-045E-042B-C33B-421DE8DBE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52" y="1954305"/>
            <a:ext cx="3407048" cy="32356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66B2AA6-E67B-3422-6F5C-CCE09EB3C766}"/>
              </a:ext>
            </a:extLst>
          </p:cNvPr>
          <p:cNvSpPr txBox="1"/>
          <p:nvPr/>
        </p:nvSpPr>
        <p:spPr>
          <a:xfrm>
            <a:off x="914400" y="1317813"/>
            <a:ext cx="341901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</a:t>
            </a:r>
            <a:r>
              <a:rPr kumimoji="0" 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acuum calculations, relaxed, BEEF-vdW (Dipam)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CEC670-8A2A-C045-2852-9AC030B443D6}"/>
              </a:ext>
            </a:extLst>
          </p:cNvPr>
          <p:cNvSpPr txBox="1"/>
          <p:nvPr/>
        </p:nvSpPr>
        <p:spPr>
          <a:xfrm>
            <a:off x="10309412" y="358588"/>
            <a:ext cx="10259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26.6.2025</a:t>
            </a:r>
          </a:p>
        </p:txBody>
      </p:sp>
      <p:pic>
        <p:nvPicPr>
          <p:cNvPr id="24" name="Picture 23" descr="A diagram of a graph&#10;&#10;AI-generated content may be incorrect.">
            <a:extLst>
              <a:ext uri="{FF2B5EF4-FFF2-40B4-BE49-F238E27FC236}">
                <a16:creationId xmlns:a16="http://schemas.microsoft.com/office/drawing/2014/main" id="{BAF83C12-CED3-CBD7-9A10-134A2E607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872" y="1923412"/>
            <a:ext cx="3478646" cy="3285081"/>
          </a:xfrm>
          <a:prstGeom prst="rect">
            <a:avLst/>
          </a:prstGeom>
        </p:spPr>
      </p:pic>
      <p:pic>
        <p:nvPicPr>
          <p:cNvPr id="26" name="Picture 25" descr="A diagram of a graph&#10;&#10;AI-generated content may be incorrect.">
            <a:extLst>
              <a:ext uri="{FF2B5EF4-FFF2-40B4-BE49-F238E27FC236}">
                <a16:creationId xmlns:a16="http://schemas.microsoft.com/office/drawing/2014/main" id="{CA847876-A51E-31D4-3221-1AF35AAD5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424" y="1950435"/>
            <a:ext cx="3525482" cy="3491142"/>
          </a:xfrm>
          <a:prstGeom prst="rect">
            <a:avLst/>
          </a:prstGeom>
        </p:spPr>
      </p:pic>
      <p:pic>
        <p:nvPicPr>
          <p:cNvPr id="28" name="Picture 27" descr="A drawing of a square with circles and lines&#10;&#10;AI-generated content may be incorrect.">
            <a:extLst>
              <a:ext uri="{FF2B5EF4-FFF2-40B4-BE49-F238E27FC236}">
                <a16:creationId xmlns:a16="http://schemas.microsoft.com/office/drawing/2014/main" id="{D70B2363-6458-6881-3B23-0D6430EFA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298" y="271286"/>
            <a:ext cx="1177738" cy="1193696"/>
          </a:xfrm>
          <a:prstGeom prst="rect">
            <a:avLst/>
          </a:prstGeom>
        </p:spPr>
      </p:pic>
      <p:pic>
        <p:nvPicPr>
          <p:cNvPr id="30" name="Picture 29" descr="A stack of brown circles&#10;&#10;AI-generated content may be incorrect.">
            <a:extLst>
              <a:ext uri="{FF2B5EF4-FFF2-40B4-BE49-F238E27FC236}">
                <a16:creationId xmlns:a16="http://schemas.microsoft.com/office/drawing/2014/main" id="{5E5C7571-D87E-D2E0-161B-C1BC9A5B7F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9525" y="349624"/>
            <a:ext cx="1383592" cy="106029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14C95B7-2775-C3CF-FE7B-86E4E4A31AC9}"/>
              </a:ext>
            </a:extLst>
          </p:cNvPr>
          <p:cNvSpPr txBox="1"/>
          <p:nvPr/>
        </p:nvSpPr>
        <p:spPr>
          <a:xfrm>
            <a:off x="5038165" y="1506070"/>
            <a:ext cx="190757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Cu(111) Htop z=1.54A relaxed</a:t>
            </a:r>
          </a:p>
        </p:txBody>
      </p:sp>
      <p:pic>
        <p:nvPicPr>
          <p:cNvPr id="35" name="Picture 34" descr="A brown circle pattern with black lines&#10;&#10;AI-generated content may be incorrect.">
            <a:extLst>
              <a:ext uri="{FF2B5EF4-FFF2-40B4-BE49-F238E27FC236}">
                <a16:creationId xmlns:a16="http://schemas.microsoft.com/office/drawing/2014/main" id="{08864ED7-6D42-D3E1-6645-CEA826AF27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2826" y="220957"/>
            <a:ext cx="1043268" cy="115515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95B6B72-90DA-1819-C7A5-EC16F2D51DDB}"/>
              </a:ext>
            </a:extLst>
          </p:cNvPr>
          <p:cNvSpPr txBox="1"/>
          <p:nvPr/>
        </p:nvSpPr>
        <p:spPr>
          <a:xfrm>
            <a:off x="7772401" y="1515035"/>
            <a:ext cx="263854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Cu(111) Hfcc z=0.9A relaxed, dHM=1.77A</a:t>
            </a:r>
          </a:p>
        </p:txBody>
      </p:sp>
      <p:pic>
        <p:nvPicPr>
          <p:cNvPr id="40" name="Picture 39" descr="A stack of brown circles&#10;&#10;AI-generated content may be incorrect.">
            <a:extLst>
              <a:ext uri="{FF2B5EF4-FFF2-40B4-BE49-F238E27FC236}">
                <a16:creationId xmlns:a16="http://schemas.microsoft.com/office/drawing/2014/main" id="{6F9F07BA-BAFA-1185-BA7B-C57EBA5CEC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8173" y="483207"/>
            <a:ext cx="990226" cy="80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66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70DC5-746A-F8D6-12AF-1F0F203B62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5A28B-AAA1-2BAA-7EDB-93F9A9FCB8F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06438-450C-84B9-6B66-B1BC53BE0F1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Simiam Ghan | sangh@dtu.dk</a:t>
            </a:r>
            <a:endParaRPr kumimoji="0" lang="da-DK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CFE1FAA6-7788-C555-B8CC-8C9558027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71" y="1920245"/>
            <a:ext cx="3700852" cy="3422720"/>
          </a:xfrm>
          <a:prstGeom prst="rect">
            <a:avLst/>
          </a:prstGeom>
        </p:spPr>
      </p:pic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3908D77B-2C4B-458D-C310-BC2A972F7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283" y="1971631"/>
            <a:ext cx="3578552" cy="3422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3F5A16-7C0C-D172-A84A-F94951253E10}"/>
              </a:ext>
            </a:extLst>
          </p:cNvPr>
          <p:cNvSpPr txBox="1"/>
          <p:nvPr/>
        </p:nvSpPr>
        <p:spPr>
          <a:xfrm>
            <a:off x="1013012" y="663389"/>
            <a:ext cx="369331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Htop vs Hfcc as descriptors for HER</a:t>
            </a:r>
          </a:p>
        </p:txBody>
      </p:sp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33759CD4-5116-02C0-1C7C-79A0FDE34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307" y="1932505"/>
            <a:ext cx="3525482" cy="349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96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5D555-704B-F9EB-A45B-7EF0F451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A96004-7687-89F7-430E-E4B93E973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E1784C-D7F8-CA28-B405-1AD58378819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97456-3715-0A23-C6EE-8DA75D60F02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Simiam Ghan | sangh@dtu.dk</a:t>
            </a:r>
            <a:endParaRPr kumimoji="0" lang="da-DK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161BE-2E48-0544-70D7-EBCB826D7B9D}"/>
              </a:ext>
            </a:extLst>
          </p:cNvPr>
          <p:cNvSpPr txBox="1"/>
          <p:nvPr/>
        </p:nvSpPr>
        <p:spPr>
          <a:xfrm>
            <a:off x="6158240" y="-408279"/>
            <a:ext cx="37276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Workfunctions versus wavefunctions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6A86A-EAEE-B0F0-9B09-A5A5BD018F33}"/>
              </a:ext>
            </a:extLst>
          </p:cNvPr>
          <p:cNvSpPr txBox="1"/>
          <p:nvPr/>
        </p:nvSpPr>
        <p:spPr>
          <a:xfrm>
            <a:off x="1272988" y="-358587"/>
            <a:ext cx="478715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2F3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Hypothesis: W</a:t>
            </a:r>
            <a:r>
              <a:rPr kumimoji="0" lang="en-DK" sz="1050" b="0" i="0" u="none" strike="noStrike" kern="1200" cap="none" spc="0" normalizeH="0" baseline="0" noProof="0" dirty="0">
                <a:ln>
                  <a:noFill/>
                </a:ln>
                <a:solidFill>
                  <a:srgbClr val="2F3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orkfunction is a covalent descriptor </a:t>
            </a:r>
            <a:r>
              <a:rPr kumimoji="0" lang="en-DK" sz="1600" b="0" i="1" u="none" strike="noStrike" kern="1200" cap="none" spc="0" normalizeH="0" baseline="0" noProof="0" dirty="0">
                <a:ln>
                  <a:noFill/>
                </a:ln>
                <a:solidFill>
                  <a:srgbClr val="2F3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above</a:t>
            </a:r>
            <a:r>
              <a:rPr kumimoji="0" lang="en-DK" sz="1050" b="0" i="0" u="none" strike="noStrike" kern="1200" cap="none" spc="0" normalizeH="0" baseline="0" noProof="0" dirty="0">
                <a:ln>
                  <a:noFill/>
                </a:ln>
                <a:solidFill>
                  <a:srgbClr val="2F3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the surface</a:t>
            </a:r>
            <a:r>
              <a:rPr kumimoji="0" lang="en-DK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BDBE51-69E1-07FD-3651-88E253FBF7E0}"/>
              </a:ext>
            </a:extLst>
          </p:cNvPr>
          <p:cNvSpPr txBox="1"/>
          <p:nvPr/>
        </p:nvSpPr>
        <p:spPr>
          <a:xfrm>
            <a:off x="6508376" y="188258"/>
            <a:ext cx="17697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nclude in paper?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BA90B6-143B-6A9F-78EB-07AC9507B2DF}"/>
              </a:ext>
            </a:extLst>
          </p:cNvPr>
          <p:cNvSpPr txBox="1"/>
          <p:nvPr/>
        </p:nvSpPr>
        <p:spPr>
          <a:xfrm>
            <a:off x="10309412" y="358588"/>
            <a:ext cx="10259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26.6.2025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B14E9-F070-5855-E273-567CA080CCB5}"/>
              </a:ext>
            </a:extLst>
          </p:cNvPr>
          <p:cNvSpPr txBox="1"/>
          <p:nvPr/>
        </p:nvSpPr>
        <p:spPr>
          <a:xfrm>
            <a:off x="1013012" y="663389"/>
            <a:ext cx="130805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Htop vs Hfcc</a:t>
            </a:r>
          </a:p>
        </p:txBody>
      </p:sp>
      <p:pic>
        <p:nvPicPr>
          <p:cNvPr id="15" name="Picture 14" descr="A diagram of a graph&#10;&#10;AI-generated content may be incorrect.">
            <a:extLst>
              <a:ext uri="{FF2B5EF4-FFF2-40B4-BE49-F238E27FC236}">
                <a16:creationId xmlns:a16="http://schemas.microsoft.com/office/drawing/2014/main" id="{C5D86E37-4BDE-D4CB-F04F-0C3A201FE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473"/>
            <a:ext cx="2609930" cy="2409468"/>
          </a:xfrm>
          <a:prstGeom prst="rect">
            <a:avLst/>
          </a:prstGeom>
        </p:spPr>
      </p:pic>
      <p:pic>
        <p:nvPicPr>
          <p:cNvPr id="17" name="Picture 16" descr="A diagram of a graph&#10;&#10;AI-generated content may be incorrect.">
            <a:extLst>
              <a:ext uri="{FF2B5EF4-FFF2-40B4-BE49-F238E27FC236}">
                <a16:creationId xmlns:a16="http://schemas.microsoft.com/office/drawing/2014/main" id="{07F074D1-F58D-968A-F884-C3CDE6920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574" y="1259739"/>
            <a:ext cx="2730731" cy="239537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95803F6-573D-BF65-7DC2-6DCFB6B12E1B}"/>
              </a:ext>
            </a:extLst>
          </p:cNvPr>
          <p:cNvSpPr txBox="1"/>
          <p:nvPr/>
        </p:nvSpPr>
        <p:spPr>
          <a:xfrm>
            <a:off x="932330" y="251012"/>
            <a:ext cx="305211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HBE vs electronic Descriptors</a:t>
            </a:r>
          </a:p>
        </p:txBody>
      </p:sp>
      <p:pic>
        <p:nvPicPr>
          <p:cNvPr id="13" name="Picture 12" descr="A diagram of a graph&#10;&#10;AI-generated content may be incorrect.">
            <a:extLst>
              <a:ext uri="{FF2B5EF4-FFF2-40B4-BE49-F238E27FC236}">
                <a16:creationId xmlns:a16="http://schemas.microsoft.com/office/drawing/2014/main" id="{9DB3D143-1B96-3381-0E36-6AEC3E0DC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002" y="1218837"/>
            <a:ext cx="2640680" cy="2409468"/>
          </a:xfrm>
          <a:prstGeom prst="rect">
            <a:avLst/>
          </a:prstGeom>
        </p:spPr>
      </p:pic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6D017777-4FF4-9770-3310-D7D23795C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121" y="1221238"/>
            <a:ext cx="2683550" cy="2409468"/>
          </a:xfrm>
          <a:prstGeom prst="rect">
            <a:avLst/>
          </a:prstGeom>
        </p:spPr>
      </p:pic>
      <p:pic>
        <p:nvPicPr>
          <p:cNvPr id="30" name="Picture 29" descr="A diagram of a graph&#10;&#10;AI-generated content may be incorrect.">
            <a:extLst>
              <a:ext uri="{FF2B5EF4-FFF2-40B4-BE49-F238E27FC236}">
                <a16:creationId xmlns:a16="http://schemas.microsoft.com/office/drawing/2014/main" id="{262E038C-CF7B-B40E-9D2C-8F92BEE18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82" y="4080438"/>
            <a:ext cx="2484390" cy="2387280"/>
          </a:xfrm>
          <a:prstGeom prst="rect">
            <a:avLst/>
          </a:prstGeom>
        </p:spPr>
      </p:pic>
      <p:pic>
        <p:nvPicPr>
          <p:cNvPr id="32" name="Picture 31" descr="A diagram of a graph&#10;&#10;AI-generated content may be incorrect.">
            <a:extLst>
              <a:ext uri="{FF2B5EF4-FFF2-40B4-BE49-F238E27FC236}">
                <a16:creationId xmlns:a16="http://schemas.microsoft.com/office/drawing/2014/main" id="{74C9C2EA-6968-9120-035C-546BE95554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2143" y="4006319"/>
            <a:ext cx="2541682" cy="2387281"/>
          </a:xfrm>
          <a:prstGeom prst="rect">
            <a:avLst/>
          </a:prstGeom>
        </p:spPr>
      </p:pic>
      <p:pic>
        <p:nvPicPr>
          <p:cNvPr id="36" name="Picture 35" descr="A diagram of a graph&#10;&#10;AI-generated content may be incorrect.">
            <a:extLst>
              <a:ext uri="{FF2B5EF4-FFF2-40B4-BE49-F238E27FC236}">
                <a16:creationId xmlns:a16="http://schemas.microsoft.com/office/drawing/2014/main" id="{CB7A9B6F-8EF4-CE1A-D275-97D5C4FECC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5977" y="4001519"/>
            <a:ext cx="2499435" cy="2387281"/>
          </a:xfrm>
          <a:prstGeom prst="rect">
            <a:avLst/>
          </a:prstGeom>
        </p:spPr>
      </p:pic>
      <p:pic>
        <p:nvPicPr>
          <p:cNvPr id="28" name="Picture 27" descr="A diagram of a graph&#10;&#10;AI-generated content may be incorrect.">
            <a:extLst>
              <a:ext uri="{FF2B5EF4-FFF2-40B4-BE49-F238E27FC236}">
                <a16:creationId xmlns:a16="http://schemas.microsoft.com/office/drawing/2014/main" id="{E371287B-431D-044F-3EFE-FD5C84C446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2735" y="4029050"/>
            <a:ext cx="2512290" cy="2387280"/>
          </a:xfrm>
          <a:prstGeom prst="rect">
            <a:avLst/>
          </a:prstGeom>
        </p:spPr>
      </p:pic>
      <p:pic>
        <p:nvPicPr>
          <p:cNvPr id="26" name="Picture 25" descr="A diagram of a graph&#10;&#10;AI-generated content may be incorrect.">
            <a:extLst>
              <a:ext uri="{FF2B5EF4-FFF2-40B4-BE49-F238E27FC236}">
                <a16:creationId xmlns:a16="http://schemas.microsoft.com/office/drawing/2014/main" id="{80C1841B-DC31-8FFC-AEFE-49CC7CB9E5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3446" y="4031447"/>
            <a:ext cx="2492662" cy="2387281"/>
          </a:xfrm>
          <a:prstGeom prst="rect">
            <a:avLst/>
          </a:prstGeom>
        </p:spPr>
      </p:pic>
      <p:pic>
        <p:nvPicPr>
          <p:cNvPr id="22" name="Picture 21" descr="A diagram of a graph&#10;&#10;AI-generated content may be incorrect.">
            <a:extLst>
              <a:ext uri="{FF2B5EF4-FFF2-40B4-BE49-F238E27FC236}">
                <a16:creationId xmlns:a16="http://schemas.microsoft.com/office/drawing/2014/main" id="{AB44E7DD-E0EF-A99F-EC2F-1F9C91E28C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2052" y="1256462"/>
            <a:ext cx="2646795" cy="240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7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1CBCB1-56DD-3402-F24A-A2B4B5A6A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298" y="1713298"/>
            <a:ext cx="2695074" cy="269507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2CA5BD-BD53-4F91-58BA-5D0746266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D40D6-83A6-8797-F381-15DCF88114D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29AB2-4414-3FC7-45F2-AF26A5FC536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Simiam Ghan | sangh@dtu.dk</a:t>
            </a:r>
            <a:endParaRPr kumimoji="0" lang="da-DK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8AD38-5E07-D8BB-AA8B-6756769F3229}"/>
              </a:ext>
            </a:extLst>
          </p:cNvPr>
          <p:cNvSpPr txBox="1"/>
          <p:nvPr/>
        </p:nvSpPr>
        <p:spPr>
          <a:xfrm>
            <a:off x="6158240" y="-408279"/>
            <a:ext cx="37276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Workfunctions versus wavefunctions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8C182-5978-D3B9-33B6-298B99A0DBC8}"/>
              </a:ext>
            </a:extLst>
          </p:cNvPr>
          <p:cNvSpPr txBox="1"/>
          <p:nvPr/>
        </p:nvSpPr>
        <p:spPr>
          <a:xfrm>
            <a:off x="1272988" y="-358587"/>
            <a:ext cx="478715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2F3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Hypothesis: W</a:t>
            </a:r>
            <a:r>
              <a:rPr kumimoji="0" lang="en-DK" sz="1050" b="0" i="0" u="none" strike="noStrike" kern="1200" cap="none" spc="0" normalizeH="0" baseline="0" noProof="0" dirty="0">
                <a:ln>
                  <a:noFill/>
                </a:ln>
                <a:solidFill>
                  <a:srgbClr val="2F3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orkfunction is a covalent descriptor </a:t>
            </a:r>
            <a:r>
              <a:rPr kumimoji="0" lang="en-DK" sz="1600" b="0" i="1" u="none" strike="noStrike" kern="1200" cap="none" spc="0" normalizeH="0" baseline="0" noProof="0" dirty="0">
                <a:ln>
                  <a:noFill/>
                </a:ln>
                <a:solidFill>
                  <a:srgbClr val="2F3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above</a:t>
            </a:r>
            <a:r>
              <a:rPr kumimoji="0" lang="en-DK" sz="1050" b="0" i="0" u="none" strike="noStrike" kern="1200" cap="none" spc="0" normalizeH="0" baseline="0" noProof="0" dirty="0">
                <a:ln>
                  <a:noFill/>
                </a:ln>
                <a:solidFill>
                  <a:srgbClr val="2F3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the surface</a:t>
            </a:r>
            <a:r>
              <a:rPr kumimoji="0" lang="en-DK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C7CCA4-BA71-EC72-D005-D6D6ABA57B83}"/>
              </a:ext>
            </a:extLst>
          </p:cNvPr>
          <p:cNvSpPr txBox="1"/>
          <p:nvPr/>
        </p:nvSpPr>
        <p:spPr>
          <a:xfrm>
            <a:off x="1084729" y="475129"/>
            <a:ext cx="19236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nclude in paper SI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23A182-E8FD-56F0-1A84-269923C11BDF}"/>
              </a:ext>
            </a:extLst>
          </p:cNvPr>
          <p:cNvSpPr txBox="1"/>
          <p:nvPr/>
        </p:nvSpPr>
        <p:spPr>
          <a:xfrm>
            <a:off x="10309412" y="358588"/>
            <a:ext cx="10259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26.6.2025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F02B0B-E199-52C6-B474-ADF9AD708368}"/>
              </a:ext>
            </a:extLst>
          </p:cNvPr>
          <p:cNvSpPr txBox="1"/>
          <p:nvPr/>
        </p:nvSpPr>
        <p:spPr>
          <a:xfrm>
            <a:off x="690281" y="-519953"/>
            <a:ext cx="414216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Further correlations:  derived descriptors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7A59219-5D8A-AFF3-56E6-4A4A20403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3969" y="1716695"/>
            <a:ext cx="2683482" cy="2683482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FA4B51B-CBBB-097E-7B3B-F253854773B9}"/>
              </a:ext>
            </a:extLst>
          </p:cNvPr>
          <p:cNvCxnSpPr/>
          <p:nvPr/>
        </p:nvCxnSpPr>
        <p:spPr bwMode="auto">
          <a:xfrm>
            <a:off x="-2029331" y="5584716"/>
            <a:ext cx="365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6232A66-F12A-FE61-F70D-C246BD87CB2E}"/>
              </a:ext>
            </a:extLst>
          </p:cNvPr>
          <p:cNvCxnSpPr/>
          <p:nvPr/>
        </p:nvCxnSpPr>
        <p:spPr bwMode="auto">
          <a:xfrm>
            <a:off x="3244131" y="4128820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4B9E1ED-B328-8ECE-81C9-AFD6E7CD7B07}"/>
              </a:ext>
            </a:extLst>
          </p:cNvPr>
          <p:cNvCxnSpPr/>
          <p:nvPr/>
        </p:nvCxnSpPr>
        <p:spPr bwMode="auto">
          <a:xfrm>
            <a:off x="-178626" y="3907926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6D411D1-6B49-8F7A-4185-E32D19C2E5B4}"/>
              </a:ext>
            </a:extLst>
          </p:cNvPr>
          <p:cNvSpPr txBox="1"/>
          <p:nvPr/>
        </p:nvSpPr>
        <p:spPr>
          <a:xfrm>
            <a:off x="4283243" y="308008"/>
            <a:ext cx="41036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dirty="0">
                <a:latin typeface="+mn-lt"/>
              </a:rPr>
              <a:t>S</a:t>
            </a:r>
            <a:r>
              <a:rPr lang="en-DK" dirty="0">
                <a:latin typeface="+mn-lt"/>
              </a:rPr>
              <a:t>elect. </a:t>
            </a:r>
            <a:r>
              <a:rPr lang="en-GB" dirty="0">
                <a:latin typeface="+mn-lt"/>
              </a:rPr>
              <a:t>R</a:t>
            </a:r>
            <a:r>
              <a:rPr lang="en-DK" dirty="0">
                <a:latin typeface="+mn-lt"/>
              </a:rPr>
              <a:t>ight click “save as picture” pdf.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30AC49-C240-DACC-8B13-FD2619788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8051" y="1707682"/>
            <a:ext cx="2700689" cy="27006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3973CB-904D-D581-9441-AE42BF538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108" y="1718911"/>
            <a:ext cx="2679834" cy="2679834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F88F9DB-76E4-9B3A-EE72-B8C29CD1A939}"/>
              </a:ext>
            </a:extLst>
          </p:cNvPr>
          <p:cNvCxnSpPr/>
          <p:nvPr/>
        </p:nvCxnSpPr>
        <p:spPr bwMode="auto">
          <a:xfrm>
            <a:off x="206802" y="5625827"/>
            <a:ext cx="1042911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2603676-9EBA-012C-101D-EAF1986608D1}"/>
              </a:ext>
            </a:extLst>
          </p:cNvPr>
          <p:cNvSpPr txBox="1"/>
          <p:nvPr/>
        </p:nvSpPr>
        <p:spPr>
          <a:xfrm>
            <a:off x="2149953" y="1851817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888966-189A-AF10-537F-C4B3369E3443}"/>
              </a:ext>
            </a:extLst>
          </p:cNvPr>
          <p:cNvSpPr txBox="1"/>
          <p:nvPr/>
        </p:nvSpPr>
        <p:spPr>
          <a:xfrm>
            <a:off x="4599024" y="1847286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695E01-6D64-B750-3810-945F24B286F6}"/>
              </a:ext>
            </a:extLst>
          </p:cNvPr>
          <p:cNvSpPr txBox="1"/>
          <p:nvPr/>
        </p:nvSpPr>
        <p:spPr>
          <a:xfrm>
            <a:off x="7056464" y="1852371"/>
            <a:ext cx="11702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E935B-8983-7BC5-C056-22F967F374C1}"/>
              </a:ext>
            </a:extLst>
          </p:cNvPr>
          <p:cNvSpPr txBox="1"/>
          <p:nvPr/>
        </p:nvSpPr>
        <p:spPr>
          <a:xfrm>
            <a:off x="9508815" y="1862001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22933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565A-7977-BE43-9EAA-ECEA63B5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C0D22D-9F72-300E-69B6-284754684D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FB7BC-5A4A-C211-4C6A-FF72ED1479A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E4BE4-C007-F97E-1802-959ECFC22B8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Simiam Ghan | sangh@dtu.dk</a:t>
            </a:r>
            <a:endParaRPr kumimoji="0" lang="da-DK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A7180D-B186-26E7-EDF5-557603E41EAA}"/>
              </a:ext>
            </a:extLst>
          </p:cNvPr>
          <p:cNvSpPr txBox="1"/>
          <p:nvPr/>
        </p:nvSpPr>
        <p:spPr>
          <a:xfrm>
            <a:off x="6158240" y="-408279"/>
            <a:ext cx="37276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Workfunctions versus wavefunctions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17E3A-7D8E-D278-A9AC-2F818300486D}"/>
              </a:ext>
            </a:extLst>
          </p:cNvPr>
          <p:cNvSpPr txBox="1"/>
          <p:nvPr/>
        </p:nvSpPr>
        <p:spPr>
          <a:xfrm>
            <a:off x="1272988" y="-358587"/>
            <a:ext cx="478715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2F3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Hypothesis: W</a:t>
            </a:r>
            <a:r>
              <a:rPr kumimoji="0" lang="en-DK" sz="1050" b="0" i="0" u="none" strike="noStrike" kern="1200" cap="none" spc="0" normalizeH="0" baseline="0" noProof="0" dirty="0">
                <a:ln>
                  <a:noFill/>
                </a:ln>
                <a:solidFill>
                  <a:srgbClr val="2F3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orkfunction is a covalent descriptor </a:t>
            </a:r>
            <a:r>
              <a:rPr kumimoji="0" lang="en-DK" sz="1600" b="0" i="1" u="none" strike="noStrike" kern="1200" cap="none" spc="0" normalizeH="0" baseline="0" noProof="0" dirty="0">
                <a:ln>
                  <a:noFill/>
                </a:ln>
                <a:solidFill>
                  <a:srgbClr val="2F3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above</a:t>
            </a:r>
            <a:r>
              <a:rPr kumimoji="0" lang="en-DK" sz="1050" b="0" i="0" u="none" strike="noStrike" kern="1200" cap="none" spc="0" normalizeH="0" baseline="0" noProof="0" dirty="0">
                <a:ln>
                  <a:noFill/>
                </a:ln>
                <a:solidFill>
                  <a:srgbClr val="2F3EE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the surface</a:t>
            </a:r>
            <a:r>
              <a:rPr kumimoji="0" lang="en-DK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3E67E-DB39-69D4-BB6A-6DF5DB3F7E80}"/>
              </a:ext>
            </a:extLst>
          </p:cNvPr>
          <p:cNvSpPr txBox="1"/>
          <p:nvPr/>
        </p:nvSpPr>
        <p:spPr>
          <a:xfrm>
            <a:off x="1084729" y="475129"/>
            <a:ext cx="19236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nclude in paper SI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3946B5-A2A4-A0DC-77D2-B124BA32CEAE}"/>
              </a:ext>
            </a:extLst>
          </p:cNvPr>
          <p:cNvSpPr txBox="1"/>
          <p:nvPr/>
        </p:nvSpPr>
        <p:spPr>
          <a:xfrm>
            <a:off x="10309412" y="358588"/>
            <a:ext cx="10259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26.6.2025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29C31D-93E6-92C5-ECE8-99D32B15698C}"/>
              </a:ext>
            </a:extLst>
          </p:cNvPr>
          <p:cNvSpPr txBox="1"/>
          <p:nvPr/>
        </p:nvSpPr>
        <p:spPr>
          <a:xfrm>
            <a:off x="690281" y="-519953"/>
            <a:ext cx="414216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Further correlations:  derived descriptors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332508C-8914-BC2D-CD7A-DECF4C5C8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440" y="1318288"/>
            <a:ext cx="2683482" cy="268348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6C5F0DF-26E8-29E8-6310-814D35E2A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043" y="3676122"/>
            <a:ext cx="2683482" cy="2683482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BD3D05D-B96D-C59A-9689-ADA7F91B8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45" y="3673721"/>
            <a:ext cx="2683482" cy="268348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4AB90C8-B9DD-9228-7112-F963AC52F8E9}"/>
              </a:ext>
            </a:extLst>
          </p:cNvPr>
          <p:cNvSpPr txBox="1"/>
          <p:nvPr/>
        </p:nvSpPr>
        <p:spPr>
          <a:xfrm>
            <a:off x="2424415" y="1490588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a)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9B7B564-4A69-3C23-051C-5542C7DC1F9A}"/>
              </a:ext>
            </a:extLst>
          </p:cNvPr>
          <p:cNvCxnSpPr/>
          <p:nvPr/>
        </p:nvCxnSpPr>
        <p:spPr bwMode="auto">
          <a:xfrm>
            <a:off x="283387" y="2300507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3FFFC1A-FDC8-0AAF-FC30-8B229AFBDC3A}"/>
              </a:ext>
            </a:extLst>
          </p:cNvPr>
          <p:cNvSpPr txBox="1"/>
          <p:nvPr/>
        </p:nvSpPr>
        <p:spPr>
          <a:xfrm>
            <a:off x="4283243" y="308008"/>
            <a:ext cx="41036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dirty="0">
                <a:latin typeface="+mn-lt"/>
              </a:rPr>
              <a:t>S</a:t>
            </a:r>
            <a:r>
              <a:rPr lang="en-DK" dirty="0">
                <a:latin typeface="+mn-lt"/>
              </a:rPr>
              <a:t>elect. </a:t>
            </a:r>
            <a:r>
              <a:rPr lang="en-GB" dirty="0">
                <a:latin typeface="+mn-lt"/>
              </a:rPr>
              <a:t>R</a:t>
            </a:r>
            <a:r>
              <a:rPr lang="en-DK" dirty="0">
                <a:latin typeface="+mn-lt"/>
              </a:rPr>
              <a:t>ight click “save as picture” pdf.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CCE5AA-E001-5952-1CDE-7F2C641EC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934" y="3663213"/>
            <a:ext cx="2670210" cy="2670210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B8B6FB8-6DE2-BED7-528E-1F91E6C83E49}"/>
              </a:ext>
            </a:extLst>
          </p:cNvPr>
          <p:cNvCxnSpPr/>
          <p:nvPr/>
        </p:nvCxnSpPr>
        <p:spPr bwMode="auto">
          <a:xfrm>
            <a:off x="12459765" y="4037660"/>
            <a:ext cx="365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C1756A18-89B7-FEE9-54EB-2C7BAF46E9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1994"/>
          <a:stretch>
            <a:fillRect/>
          </a:stretch>
        </p:blipFill>
        <p:spPr>
          <a:xfrm>
            <a:off x="4697855" y="1324852"/>
            <a:ext cx="2683482" cy="236162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992ED030-3538-4E5E-B5BE-60584E3415D6}"/>
              </a:ext>
            </a:extLst>
          </p:cNvPr>
          <p:cNvSpPr txBox="1"/>
          <p:nvPr/>
        </p:nvSpPr>
        <p:spPr>
          <a:xfrm>
            <a:off x="4866785" y="1491914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656B4E-D452-4E1C-91FE-245F0C8B23C1}"/>
              </a:ext>
            </a:extLst>
          </p:cNvPr>
          <p:cNvSpPr txBox="1"/>
          <p:nvPr/>
        </p:nvSpPr>
        <p:spPr>
          <a:xfrm>
            <a:off x="2405370" y="3835181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220B0C-0A14-263B-42DC-473EFE6C1FB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1174"/>
          <a:stretch>
            <a:fillRect/>
          </a:stretch>
        </p:blipFill>
        <p:spPr>
          <a:xfrm>
            <a:off x="7147560" y="1324275"/>
            <a:ext cx="2670210" cy="2371827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3A33EBD-0421-6653-3C1F-7F4E48B0CB5C}"/>
              </a:ext>
            </a:extLst>
          </p:cNvPr>
          <p:cNvCxnSpPr/>
          <p:nvPr/>
        </p:nvCxnSpPr>
        <p:spPr bwMode="auto">
          <a:xfrm>
            <a:off x="1780675" y="6441365"/>
            <a:ext cx="854723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D330EF7-55DE-77DA-9003-8AD76E57D015}"/>
              </a:ext>
            </a:extLst>
          </p:cNvPr>
          <p:cNvCxnSpPr/>
          <p:nvPr/>
        </p:nvCxnSpPr>
        <p:spPr bwMode="auto">
          <a:xfrm>
            <a:off x="144796" y="1309037"/>
            <a:ext cx="0" cy="4825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5A6A2A9-C6B5-774E-9719-EECEC2AFEB43}"/>
              </a:ext>
            </a:extLst>
          </p:cNvPr>
          <p:cNvSpPr txBox="1"/>
          <p:nvPr/>
        </p:nvSpPr>
        <p:spPr>
          <a:xfrm>
            <a:off x="7335597" y="1496237"/>
            <a:ext cx="11702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53ADAB-595E-766B-EF17-C72E334DF34F}"/>
              </a:ext>
            </a:extLst>
          </p:cNvPr>
          <p:cNvSpPr txBox="1"/>
          <p:nvPr/>
        </p:nvSpPr>
        <p:spPr>
          <a:xfrm>
            <a:off x="4877459" y="3833577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100" dirty="0">
                <a:solidFill>
                  <a:srgbClr val="000000"/>
                </a:solidFill>
                <a:latin typeface="Arial"/>
              </a:rPr>
              <a:t>e</a:t>
            </a: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D52692-04F1-F42F-5F15-BDC130C417F0}"/>
              </a:ext>
            </a:extLst>
          </p:cNvPr>
          <p:cNvSpPr txBox="1"/>
          <p:nvPr/>
        </p:nvSpPr>
        <p:spPr>
          <a:xfrm>
            <a:off x="7351151" y="3823952"/>
            <a:ext cx="8496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100" dirty="0">
                <a:solidFill>
                  <a:srgbClr val="000000"/>
                </a:solidFill>
                <a:latin typeface="Arial"/>
              </a:rPr>
              <a:t>f</a:t>
            </a: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43780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1_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Corporate red-ENG.potx" id="{ED70A225-5B60-42AC-912C-67898019C42C}" vid="{E9106579-58D4-45CA-A6E9-5E2F157EFB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223</Words>
  <Application>Microsoft Macintosh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Verdana</vt:lpstr>
      <vt:lpstr>1_Blank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Simiam Andreas Ghan</dc:creator>
  <cp:lastModifiedBy>Simiam Andreas Ghan</cp:lastModifiedBy>
  <cp:revision>5</cp:revision>
  <dcterms:created xsi:type="dcterms:W3CDTF">2025-06-26T11:04:15Z</dcterms:created>
  <dcterms:modified xsi:type="dcterms:W3CDTF">2025-06-26T11:34:16Z</dcterms:modified>
</cp:coreProperties>
</file>