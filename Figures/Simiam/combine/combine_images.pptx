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1654" r:id="rId2"/>
    <p:sldId id="1656" r:id="rId3"/>
    <p:sldId id="1653" r:id="rId4"/>
    <p:sldId id="1652" r:id="rId5"/>
    <p:sldId id="1657" r:id="rId6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52"/>
    <p:restoredTop sz="94645"/>
  </p:normalViewPr>
  <p:slideViewPr>
    <p:cSldViewPr snapToGrid="0">
      <p:cViewPr varScale="1">
        <p:scale>
          <a:sx n="133" d="100"/>
          <a:sy n="133" d="100"/>
        </p:scale>
        <p:origin x="255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rgbClr val="99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1" name="Logo white">
            <a:extLst>
              <a:ext uri="{FF2B5EF4-FFF2-40B4-BE49-F238E27FC236}">
                <a16:creationId xmlns:a16="http://schemas.microsoft.com/office/drawing/2014/main" id="{275A6477-FE3A-4D40-B1FE-E46C11E344A5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252033" y="252000"/>
            <a:ext cx="419666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sz="1800" dirty="0"/>
          </a:p>
        </p:txBody>
      </p:sp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92" y="3545117"/>
            <a:ext cx="10841439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noProof="0"/>
              <a:t>Click to edit Master title style</a:t>
            </a:r>
            <a:endParaRPr lang="en-GB" noProof="0" dirty="0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104" y="1704975"/>
            <a:ext cx="10841439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noProof="0"/>
              <a:t>Click to edit Master subtitle style</a:t>
            </a:r>
            <a:endParaRPr lang="en-GB" noProof="0" dirty="0"/>
          </a:p>
        </p:txBody>
      </p:sp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D20B1590-C678-8C58-E52B-B18894B38D1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025CB4DB-17C7-3C47-B8FC-CA8DAA57CD16}" type="datetime1">
              <a:rPr lang="da-DK" smtClean="0"/>
              <a:t>19.06.2025</a:t>
            </a:fld>
            <a:endParaRPr lang="en-GB" dirty="0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2DDBEE1B-0FAB-7889-72A5-061AD0D74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3" name="Footer Placeholder 5">
            <a:extLst>
              <a:ext uri="{FF2B5EF4-FFF2-40B4-BE49-F238E27FC236}">
                <a16:creationId xmlns:a16="http://schemas.microsoft.com/office/drawing/2014/main" id="{03C35D72-EC55-2048-3021-46C8BB45CA8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 dirty="0"/>
              <a:t>Simiam Ghan | </a:t>
            </a:r>
            <a:r>
              <a:rPr lang="da-DK" dirty="0" err="1"/>
              <a:t>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13835551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6984">
          <p15:clr>
            <a:srgbClr val="F26B43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92" y="3545117"/>
            <a:ext cx="10841439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Click to edit Master title style</a:t>
            </a:r>
            <a:endParaRPr lang="en-GB" noProof="0" dirty="0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104" y="1704975"/>
            <a:ext cx="10841439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Click to edit Master subtitle style</a:t>
            </a:r>
            <a:endParaRPr lang="en-GB" noProof="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26E83F-35F3-7C0A-C83E-AFDCA346710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22D8C74A-38EC-3840-AB49-1E0C4B490A1A}" type="datetime1">
              <a:rPr lang="da-DK" smtClean="0"/>
              <a:t>19.06.2025</a:t>
            </a:fld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12648B-3179-ABFE-F3AA-427613837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3" name="Footer Placeholder 5">
            <a:extLst>
              <a:ext uri="{FF2B5EF4-FFF2-40B4-BE49-F238E27FC236}">
                <a16:creationId xmlns:a16="http://schemas.microsoft.com/office/drawing/2014/main" id="{59035397-9F37-0FF7-450F-ADC8DCD898E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 dirty="0"/>
              <a:t>Simiam Ghan | </a:t>
            </a:r>
            <a:r>
              <a:rPr lang="da-DK" dirty="0" err="1"/>
              <a:t>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2017689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6984">
          <p15:clr>
            <a:srgbClr val="F26B43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48A0E3C-0CE1-4BBF-A912-5A81BF3B7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5031" y="1706400"/>
            <a:ext cx="9313586" cy="454557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209954EC-B8D9-8075-FC9F-D3764E46CE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E51A98B0-BE60-8545-8980-4D728E764AD9}" type="datetime1">
              <a:rPr lang="da-DK" smtClean="0"/>
              <a:t>19.06.2025</a:t>
            </a:fld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8AD440C-0797-9C1A-F3D9-3529DA26E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2" name="Footer Placeholder 5">
            <a:extLst>
              <a:ext uri="{FF2B5EF4-FFF2-40B4-BE49-F238E27FC236}">
                <a16:creationId xmlns:a16="http://schemas.microsoft.com/office/drawing/2014/main" id="{80C0EDF8-2CBF-4FF5-56B7-184EC333F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Simiam Ghan | 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8604309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>
          <p15:clr>
            <a:srgbClr val="F26B43"/>
          </p15:clr>
        </p15:guide>
        <p15:guide id="2" pos="1117">
          <p15:clr>
            <a:srgbClr val="F26B43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EB1D5E1-0C4E-4A74-BE37-26307F7E2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957" y="426127"/>
            <a:ext cx="9313586" cy="97271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75032" y="1706399"/>
            <a:ext cx="4410751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78870" y="1706399"/>
            <a:ext cx="4409674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2DB094-8FAE-C677-71FF-C957451498D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E85C236E-1C30-674C-B6D0-A0D07779EAB9}" type="datetime1">
              <a:rPr lang="da-DK" smtClean="0"/>
              <a:t>19.06.2025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0EBB58-CCF5-8D0B-B0A3-EB326A793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Simiam Ghan | sangh@dtu.dk</a:t>
            </a:r>
            <a:endParaRPr lang="da-DK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047D44D2-EBA3-A211-09B8-DBF6523CB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8425765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8">
          <p15:clr>
            <a:srgbClr val="F26B43"/>
          </p15:clr>
        </p15:guide>
        <p15:guide id="2" pos="3896">
          <p15:clr>
            <a:srgbClr val="F26B43"/>
          </p15:clr>
        </p15:guide>
        <p15:guide id="3" pos="4205">
          <p15:clr>
            <a:srgbClr val="F26B43"/>
          </p15:clr>
        </p15:guide>
        <p15:guide id="4" pos="6984">
          <p15:clr>
            <a:srgbClr val="F26B43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90A2595F-A737-4D92-946C-EC0BBF885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957" y="426127"/>
            <a:ext cx="6049459" cy="97271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4957" y="1706328"/>
            <a:ext cx="6049459" cy="454557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32298" y="849734"/>
            <a:ext cx="3859702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332298" y="3563718"/>
            <a:ext cx="3859702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64EEF-2B63-484E-803A-4FCD66F243A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06AB93-5959-29D5-C0C8-6B37FCF5F141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/>
          <a:p>
            <a:fld id="{E9E1F3A7-0396-684C-9353-3AA45095AA71}" type="datetime1">
              <a:rPr lang="da-DK" smtClean="0"/>
              <a:t>19.06.2025</a:t>
            </a:fld>
            <a:endParaRPr lang="en-GB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3CB561F5-56DA-E113-07A9-31399910F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Simiam Ghan | 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8415478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927">
          <p15:clr>
            <a:srgbClr val="F26B43"/>
          </p15:clr>
        </p15:guide>
        <p15:guide id="2" pos="5247">
          <p15:clr>
            <a:srgbClr val="F26B43"/>
          </p15:clr>
        </p15:guide>
        <p15:guide id="3" pos="1117">
          <p15:clr>
            <a:srgbClr val="F26B43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92213382-11A1-48CE-B0A0-D8A7D2686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1909" y="426127"/>
            <a:ext cx="6866634" cy="97271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1909" y="1706328"/>
            <a:ext cx="6866634" cy="454557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1314523"/>
            <a:ext cx="3708483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3968153"/>
            <a:ext cx="3708483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5D0DC-E43F-43DA-AA0F-C0C54C8939F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45D79-EFF9-98D6-B066-40CEED6C2E2A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/>
          <a:p>
            <a:fld id="{87452FCF-DB2A-5F45-B650-526B780F2213}" type="datetime1">
              <a:rPr lang="da-DK" smtClean="0"/>
              <a:t>19.06.2025</a:t>
            </a:fld>
            <a:endParaRPr lang="en-GB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EAEED2BD-CBC4-E0C7-4ADD-3851AF046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Simiam Ghan | 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4683364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>
          <p15:clr>
            <a:srgbClr val="F26B43"/>
          </p15:clr>
        </p15:guide>
        <p15:guide id="2" pos="2660">
          <p15:clr>
            <a:srgbClr val="F26B43"/>
          </p15:clr>
        </p15:guide>
        <p15:guide id="3" pos="2335">
          <p15:clr>
            <a:srgbClr val="F26B43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953C3-F3F7-4638-96F8-7CF20CB55E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7682" y="980728"/>
            <a:ext cx="3740887" cy="41811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C0DB591-4602-46B3-B1C3-1E64148AB9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82" y="4407151"/>
            <a:ext cx="3740887" cy="184442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8416079-1CFC-426F-A6ED-5AB355FC545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3300" y="979201"/>
            <a:ext cx="3740887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358873C-68BF-4E89-B536-B3248F2B25FE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223300" y="4406900"/>
            <a:ext cx="3740888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69A0E900-1FE2-4CC1-B435-93F3A118935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98917" y="979201"/>
            <a:ext cx="3740887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E094886A-F110-4851-B1DA-8DFC40D509F8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8198917" y="4406900"/>
            <a:ext cx="3740887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1B02311-54A6-4455-B615-BBCA0DA742E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47682" y="1546282"/>
            <a:ext cx="3740887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710A5827-3485-49A0-81F0-FF89EE34B80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23699" y="1548581"/>
            <a:ext cx="3740887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E27B0558-FCB8-4A55-9BA9-182DFF0387F4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199715" y="1546282"/>
            <a:ext cx="3740887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CDBA22-AE55-C68A-132F-A826D0B0C740}"/>
              </a:ext>
            </a:extLst>
          </p:cNvPr>
          <p:cNvSpPr>
            <a:spLocks noGrp="1"/>
          </p:cNvSpPr>
          <p:nvPr>
            <p:ph type="dt" sz="half" idx="25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/>
          <a:p>
            <a:fld id="{48E6AEDC-D177-4447-9167-1BF6F74D72EE}" type="datetime1">
              <a:rPr lang="da-DK" smtClean="0"/>
              <a:t>19.06.2025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981C81-370B-04F9-300E-B3424D159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Simiam Ghan | 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2794680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7522">
          <p15:clr>
            <a:srgbClr val="F26B43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ogo og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A39F3A-7714-4FD6-9132-D60FFA220D9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E183DE-20D3-DB32-ED9D-43A02E676CAC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/>
          <a:p>
            <a:fld id="{9A1051F6-884E-4D46-AD5F-8A730B377BAA}" type="datetime1">
              <a:rPr lang="da-DK" smtClean="0"/>
              <a:t>19.06.2025</a:t>
            </a:fld>
            <a:endParaRPr lang="en-GB"/>
          </a:p>
        </p:txBody>
      </p:sp>
      <p:sp>
        <p:nvSpPr>
          <p:cNvPr id="4" name="Footer Placeholder 5">
            <a:extLst>
              <a:ext uri="{FF2B5EF4-FFF2-40B4-BE49-F238E27FC236}">
                <a16:creationId xmlns:a16="http://schemas.microsoft.com/office/drawing/2014/main" id="{261A0643-A405-FE19-C467-403FA1E66AD7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 dirty="0"/>
              <a:t>Simiam Ghan | </a:t>
            </a:r>
            <a:r>
              <a:rPr lang="da-DK" dirty="0" err="1"/>
              <a:t>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6508880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8043B6-861B-7701-CEE2-6FF736589C8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92399B-5184-32B1-0AFF-6181B3E9036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1E5994F3-19EB-214E-985D-C72A9F0F1D85}" type="datetime1">
              <a:rPr lang="da-DK" smtClean="0"/>
              <a:t>19.06.2025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3FB6FF-0335-FEB5-42B3-51F8618FB96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 dirty="0"/>
              <a:t>Simiam Ghan | </a:t>
            </a:r>
            <a:r>
              <a:rPr lang="da-DK" dirty="0" err="1"/>
              <a:t>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8030602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ront/Pause 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ackground">
            <a:extLst>
              <a:ext uri="{FF2B5EF4-FFF2-40B4-BE49-F238E27FC236}">
                <a16:creationId xmlns:a16="http://schemas.microsoft.com/office/drawing/2014/main" id="{AF9D3C51-A276-4E1F-B6B6-FD6A4E17EE28}"/>
              </a:ext>
            </a:extLst>
          </p:cNvPr>
          <p:cNvSpPr/>
          <p:nvPr userDrawn="1"/>
        </p:nvSpPr>
        <p:spPr bwMode="auto">
          <a:xfrm>
            <a:off x="0" y="0"/>
            <a:ext cx="12194787" cy="6861600"/>
          </a:xfrm>
          <a:prstGeom prst="rect">
            <a:avLst/>
          </a:prstGeom>
          <a:solidFill>
            <a:schemeClr val="accent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C9776080-6230-4AB8-AB28-4D6744DD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fld id="{420B1B64-6903-8D45-8D2A-9338C2B7AC44}" type="datetime1">
              <a:rPr lang="da-DK" smtClean="0"/>
              <a:t>19.06.2025</a:t>
            </a:fld>
            <a:endParaRPr lang="en-GB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B7FFAE6-D148-4A15-9DFC-7D71B820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Simiam Ghan | sangh@dtu.dk</a:t>
            </a:r>
            <a:endParaRPr lang="en-GB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3125B57E-AFC7-4517-B327-461DB01D2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Logo color">
            <a:extLst>
              <a:ext uri="{FF2B5EF4-FFF2-40B4-BE49-F238E27FC236}">
                <a16:creationId xmlns:a16="http://schemas.microsoft.com/office/drawing/2014/main" id="{B0EE486B-843B-49D6-90AE-5093AB56E30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1174" y="1651373"/>
            <a:ext cx="2388634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sz="1800" dirty="0"/>
          </a:p>
        </p:txBody>
      </p:sp>
    </p:spTree>
    <p:extLst>
      <p:ext uri="{BB962C8B-B14F-4D97-AF65-F5344CB8AC3E}">
        <p14:creationId xmlns:p14="http://schemas.microsoft.com/office/powerpoint/2010/main" val="12349858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/Paus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">
            <a:extLst>
              <a:ext uri="{FF2B5EF4-FFF2-40B4-BE49-F238E27FC236}">
                <a16:creationId xmlns:a16="http://schemas.microsoft.com/office/drawing/2014/main" id="{A3420087-96DF-432F-B192-585D42BF6A4E}"/>
              </a:ext>
            </a:extLst>
          </p:cNvPr>
          <p:cNvSpPr/>
          <p:nvPr userDrawn="1"/>
        </p:nvSpPr>
        <p:spPr bwMode="auto">
          <a:xfrm>
            <a:off x="0" y="0"/>
            <a:ext cx="12194787" cy="68616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3" name="Logo color">
            <a:extLst>
              <a:ext uri="{FF2B5EF4-FFF2-40B4-BE49-F238E27FC236}">
                <a16:creationId xmlns:a16="http://schemas.microsoft.com/office/drawing/2014/main" id="{09BBEE10-6A59-474F-B766-7643F97F869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1174" y="1651373"/>
            <a:ext cx="2388634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sz="1800" dirty="0"/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F062B26-8169-4B93-8FD8-CFDB0855A9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fld id="{D05A487E-05B4-B647-BDD8-699F9077B661}" type="datetime1">
              <a:rPr lang="da-DK" smtClean="0"/>
              <a:t>19.06.2025</a:t>
            </a:fld>
            <a:endParaRPr lang="en-GB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CA59923C-6F09-424E-AF1E-AC62326A9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Simiam Ghan | sangh@dtu.dk</a:t>
            </a:r>
            <a:endParaRPr lang="en-GB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4C299FA2-BF46-4410-B2CD-E3C80B7A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" name="Bottom bar">
            <a:extLst>
              <a:ext uri="{FF2B5EF4-FFF2-40B4-BE49-F238E27FC236}">
                <a16:creationId xmlns:a16="http://schemas.microsoft.com/office/drawing/2014/main" id="{495865CE-5BE9-4122-8AB8-48E534DD88F7}"/>
              </a:ext>
            </a:extLst>
          </p:cNvPr>
          <p:cNvSpPr/>
          <p:nvPr userDrawn="1"/>
        </p:nvSpPr>
        <p:spPr bwMode="auto">
          <a:xfrm>
            <a:off x="0" y="6541200"/>
            <a:ext cx="12194787" cy="316800"/>
          </a:xfrm>
          <a:prstGeom prst="rect">
            <a:avLst/>
          </a:prstGeom>
          <a:solidFill>
            <a:srgbClr val="99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2" name="Top bar">
            <a:extLst>
              <a:ext uri="{FF2B5EF4-FFF2-40B4-BE49-F238E27FC236}">
                <a16:creationId xmlns:a16="http://schemas.microsoft.com/office/drawing/2014/main" id="{0D436479-94F3-475C-8F8D-D3CDC81793FD}"/>
              </a:ext>
            </a:extLst>
          </p:cNvPr>
          <p:cNvSpPr/>
          <p:nvPr userDrawn="1"/>
        </p:nvSpPr>
        <p:spPr bwMode="auto">
          <a:xfrm>
            <a:off x="0" y="0"/>
            <a:ext cx="12194787" cy="50400"/>
          </a:xfrm>
          <a:prstGeom prst="rect">
            <a:avLst/>
          </a:prstGeom>
          <a:solidFill>
            <a:srgbClr val="99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47227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FDC2D-1E52-C849-8333-52FCAA6DEEC6}" type="datetimeFigureOut">
              <a:rPr lang="en-DK" smtClean="0"/>
              <a:t>19/06/2025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AC9E5-BCEE-8249-9AAA-FAA79127D497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1756360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ottom bar">
            <a:extLst>
              <a:ext uri="{FF2B5EF4-FFF2-40B4-BE49-F238E27FC236}">
                <a16:creationId xmlns:a16="http://schemas.microsoft.com/office/drawing/2014/main" id="{FFFFD011-0D94-46EE-B45C-787FE82C3B5E}"/>
              </a:ext>
            </a:extLst>
          </p:cNvPr>
          <p:cNvSpPr/>
          <p:nvPr userDrawn="1"/>
        </p:nvSpPr>
        <p:spPr bwMode="auto">
          <a:xfrm>
            <a:off x="0" y="6541200"/>
            <a:ext cx="12194787" cy="316800"/>
          </a:xfrm>
          <a:prstGeom prst="rect">
            <a:avLst/>
          </a:prstGeom>
          <a:solidFill>
            <a:srgbClr val="99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9" name="Logo color">
            <a:extLst>
              <a:ext uri="{FF2B5EF4-FFF2-40B4-BE49-F238E27FC236}">
                <a16:creationId xmlns:a16="http://schemas.microsoft.com/office/drawing/2014/main" id="{ADC92552-7939-46C1-AAFE-B97F51EBFFE9}"/>
              </a:ext>
            </a:extLst>
          </p:cNvPr>
          <p:cNvSpPr>
            <a:spLocks noChangeAspect="1"/>
          </p:cNvSpPr>
          <p:nvPr userDrawn="1">
            <p:custDataLst>
              <p:tags r:id="rId14"/>
            </p:custDataLst>
          </p:nvPr>
        </p:nvSpPr>
        <p:spPr bwMode="auto">
          <a:xfrm>
            <a:off x="252033" y="252000"/>
            <a:ext cx="419666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sz="1800"/>
          </a:p>
        </p:txBody>
      </p:sp>
      <p:sp>
        <p:nvSpPr>
          <p:cNvPr id="3" name="FLD_Presentation Title"/>
          <p:cNvSpPr>
            <a:spLocks noGrp="1"/>
          </p:cNvSpPr>
          <p:nvPr>
            <p:ph type="ftr" sz="quarter" idx="3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r">
              <a:spcBef>
                <a:spcPts val="0"/>
              </a:spcBef>
              <a:defRPr sz="7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da-DK" dirty="0"/>
              <a:t>Simiam Ghan | </a:t>
            </a:r>
            <a:r>
              <a:rPr lang="da-DK" dirty="0" err="1"/>
              <a:t>sangh@dtu.dk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defRPr sz="700" b="1">
                <a:solidFill>
                  <a:schemeClr val="bg1"/>
                </a:solidFill>
                <a:latin typeface="+mn-lt"/>
              </a:defRPr>
            </a:lvl1pPr>
          </a:lstStyle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11366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74957" y="426127"/>
            <a:ext cx="9313586" cy="9727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11366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74957" y="1706328"/>
            <a:ext cx="9313586" cy="45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3676" name="text" descr="{&quot;templafy&quot;:{&quot;type&quot;:&quot;text&quot;,&quot;binding&quot;:&quot;UserProfile.Offices.Workarea_{{DocumentLanguage}}&quot;}}" title="UserProfile.Offices.Workarea_{{DocumentLanguage}}"/>
          <p:cNvSpPr>
            <a:spLocks noChangeArrowheads="1"/>
          </p:cNvSpPr>
          <p:nvPr userDrawn="1"/>
        </p:nvSpPr>
        <p:spPr bwMode="auto">
          <a:xfrm>
            <a:off x="1774958" y="6541200"/>
            <a:ext cx="3397513" cy="31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 anchorCtr="0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a-DK" sz="700" b="1" dirty="0">
                <a:solidFill>
                  <a:schemeClr val="bg1"/>
                </a:solidFill>
                <a:latin typeface="+mn-lt"/>
              </a:rPr>
              <a:t>Technical University of Denmark</a:t>
            </a:r>
          </a:p>
        </p:txBody>
      </p:sp>
      <p:sp>
        <p:nvSpPr>
          <p:cNvPr id="5" name="date" descr="{&quot;templafy&quot;:{&quot;type&quot;:&quot;date&quot;,&quot;binding&quot;:&quot;Form.Date&quot;,&quot;format&quot;:&quot;{{DateFormats.GeneralDate}}&quot;}}" title="Form.Date">
            <a:extLst>
              <a:ext uri="{FF2B5EF4-FFF2-40B4-BE49-F238E27FC236}">
                <a16:creationId xmlns:a16="http://schemas.microsoft.com/office/drawing/2014/main" id="{792B975C-625D-4095-8E1D-63F20A11B57C}"/>
              </a:ext>
            </a:extLst>
          </p:cNvPr>
          <p:cNvSpPr/>
          <p:nvPr userDrawn="1"/>
        </p:nvSpPr>
        <p:spPr bwMode="auto">
          <a:xfrm>
            <a:off x="251396" y="6541200"/>
            <a:ext cx="1104157" cy="316800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7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j-lt"/>
              <a:ea typeface="ＭＳ Ｐゴシック" pitchFamily="-80" charset="-128"/>
            </a:endParaRPr>
          </a:p>
        </p:txBody>
      </p:sp>
      <p:sp>
        <p:nvSpPr>
          <p:cNvPr id="7" name="text" descr="{&quot;templafy&quot;:{&quot;binding&quot;:&quot;Form.PresentationTitle&quot;,&quot;type&quot;:&quot;text&quot;}}" title="Form.PresentationTitle">
            <a:extLst>
              <a:ext uri="{FF2B5EF4-FFF2-40B4-BE49-F238E27FC236}">
                <a16:creationId xmlns:a16="http://schemas.microsoft.com/office/drawing/2014/main" id="{06B09BDB-1C7D-4F8A-8F1B-82D88054A428}"/>
              </a:ext>
            </a:extLst>
          </p:cNvPr>
          <p:cNvSpPr txBox="1"/>
          <p:nvPr userDrawn="1"/>
        </p:nvSpPr>
        <p:spPr>
          <a:xfrm>
            <a:off x="5581245" y="5892614"/>
            <a:ext cx="5496664" cy="3168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endParaRPr lang="da-DK" sz="7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2" name="Top bar">
            <a:extLst>
              <a:ext uri="{FF2B5EF4-FFF2-40B4-BE49-F238E27FC236}">
                <a16:creationId xmlns:a16="http://schemas.microsoft.com/office/drawing/2014/main" id="{35912424-89BF-4A93-9096-3282916C71FE}"/>
              </a:ext>
            </a:extLst>
          </p:cNvPr>
          <p:cNvSpPr/>
          <p:nvPr userDrawn="1"/>
        </p:nvSpPr>
        <p:spPr bwMode="auto">
          <a:xfrm>
            <a:off x="0" y="0"/>
            <a:ext cx="12194787" cy="50400"/>
          </a:xfrm>
          <a:prstGeom prst="rect">
            <a:avLst/>
          </a:prstGeom>
          <a:solidFill>
            <a:srgbClr val="99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14E9AE0-170F-0C2B-DFF5-DC7F65F4B1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 b="1">
                <a:solidFill>
                  <a:schemeClr val="bg1"/>
                </a:solidFill>
                <a:latin typeface="+mj-lt"/>
              </a:defRPr>
            </a:lvl1pPr>
          </a:lstStyle>
          <a:p>
            <a:fld id="{3AAA9B72-71C0-7042-B490-D81E80BA9064}" type="datetime1">
              <a:rPr lang="da-DK" smtClean="0"/>
              <a:t>19.06.2025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09052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0000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9pPr>
    </p:titleStyle>
    <p:bodyStyle>
      <a:lvl1pPr marL="1980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14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2pPr>
      <a:lvl3pPr marL="6156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</a:defRPr>
      </a:lvl3pPr>
      <a:lvl4pPr marL="828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4pPr>
      <a:lvl5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5pPr>
      <a:lvl6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6pPr>
      <a:lvl7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7pPr>
      <a:lvl8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8pPr>
      <a:lvl9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68">
          <p15:clr>
            <a:srgbClr val="F26B43"/>
          </p15:clr>
        </p15:guide>
        <p15:guide id="4" orient="horz" pos="881">
          <p15:clr>
            <a:srgbClr val="F26B43"/>
          </p15:clr>
        </p15:guide>
        <p15:guide id="5" orient="horz" pos="1074">
          <p15:clr>
            <a:srgbClr val="F26B43"/>
          </p15:clr>
        </p15:guide>
        <p15:guide id="6" orient="horz" pos="393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3.emf"/><Relationship Id="rId4" Type="http://schemas.openxmlformats.org/officeDocument/2006/relationships/image" Target="../media/image22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7" Type="http://schemas.openxmlformats.org/officeDocument/2006/relationships/image" Target="../media/image29.emf"/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8.emf"/><Relationship Id="rId5" Type="http://schemas.openxmlformats.org/officeDocument/2006/relationships/image" Target="../media/image27.emf"/><Relationship Id="rId4" Type="http://schemas.openxmlformats.org/officeDocument/2006/relationships/image" Target="../media/image2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B11754-1F20-5735-E4C4-8435748569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3EA872-A674-449B-A120-B97244F8E91D}" type="slidenum">
              <a:rPr kumimoji="0" lang="en-GB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0D658C-E887-A6C4-6B72-2F4AD28C9F4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1051F6-884E-4D46-AD5F-8A730B377BAA}" type="datetime1">
              <a:rPr kumimoji="0" lang="da-DK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26.06.2025</a:t>
            </a:fld>
            <a:endParaRPr kumimoji="0" lang="en-GB" sz="7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DAB637-3C6B-4E1C-AF06-0FE6857F7BA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Simiam Ghan | sangh@dtu.dk</a:t>
            </a:r>
            <a:endParaRPr kumimoji="0" lang="da-DK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D343AA-3162-1E11-F1BE-0BD8A035E8A1}"/>
              </a:ext>
            </a:extLst>
          </p:cNvPr>
          <p:cNvSpPr txBox="1"/>
          <p:nvPr/>
        </p:nvSpPr>
        <p:spPr>
          <a:xfrm>
            <a:off x="1013012" y="663389"/>
            <a:ext cx="3693319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Htop vs Hfcc as descriptors for HER</a:t>
            </a:r>
          </a:p>
        </p:txBody>
      </p:sp>
      <p:pic>
        <p:nvPicPr>
          <p:cNvPr id="18" name="Picture 17" descr="A diagram of a graph&#10;&#10;AI-generated content may be incorrect.">
            <a:extLst>
              <a:ext uri="{FF2B5EF4-FFF2-40B4-BE49-F238E27FC236}">
                <a16:creationId xmlns:a16="http://schemas.microsoft.com/office/drawing/2014/main" id="{3C427761-045E-042B-C33B-421DE8DBE6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552" y="1954305"/>
            <a:ext cx="3407048" cy="323562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66B2AA6-E67B-3422-6F5C-CCE09EB3C766}"/>
              </a:ext>
            </a:extLst>
          </p:cNvPr>
          <p:cNvSpPr txBox="1"/>
          <p:nvPr/>
        </p:nvSpPr>
        <p:spPr>
          <a:xfrm>
            <a:off x="914400" y="1317813"/>
            <a:ext cx="341901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V</a:t>
            </a:r>
            <a:r>
              <a:rPr kumimoji="0" lang="en-DK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acuum calculations, relaxed, BEEF-vdW (Dipam)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8CEC670-8A2A-C045-2852-9AC030B443D6}"/>
              </a:ext>
            </a:extLst>
          </p:cNvPr>
          <p:cNvSpPr txBox="1"/>
          <p:nvPr/>
        </p:nvSpPr>
        <p:spPr>
          <a:xfrm>
            <a:off x="10309412" y="358588"/>
            <a:ext cx="102592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26.6.2025</a:t>
            </a:r>
          </a:p>
        </p:txBody>
      </p:sp>
      <p:pic>
        <p:nvPicPr>
          <p:cNvPr id="24" name="Picture 23" descr="A diagram of a graph&#10;&#10;AI-generated content may be incorrect.">
            <a:extLst>
              <a:ext uri="{FF2B5EF4-FFF2-40B4-BE49-F238E27FC236}">
                <a16:creationId xmlns:a16="http://schemas.microsoft.com/office/drawing/2014/main" id="{BAF83C12-CED3-CBD7-9A10-134A2E6078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5872" y="1923412"/>
            <a:ext cx="3478646" cy="3285081"/>
          </a:xfrm>
          <a:prstGeom prst="rect">
            <a:avLst/>
          </a:prstGeom>
        </p:spPr>
      </p:pic>
      <p:pic>
        <p:nvPicPr>
          <p:cNvPr id="26" name="Picture 25" descr="A diagram of a graph&#10;&#10;AI-generated content may be incorrect.">
            <a:extLst>
              <a:ext uri="{FF2B5EF4-FFF2-40B4-BE49-F238E27FC236}">
                <a16:creationId xmlns:a16="http://schemas.microsoft.com/office/drawing/2014/main" id="{CA847876-A51E-31D4-3221-1AF35AAD54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0424" y="1950435"/>
            <a:ext cx="3525482" cy="3491142"/>
          </a:xfrm>
          <a:prstGeom prst="rect">
            <a:avLst/>
          </a:prstGeom>
        </p:spPr>
      </p:pic>
      <p:pic>
        <p:nvPicPr>
          <p:cNvPr id="28" name="Picture 27" descr="A drawing of a square with circles and lines&#10;&#10;AI-generated content may be incorrect.">
            <a:extLst>
              <a:ext uri="{FF2B5EF4-FFF2-40B4-BE49-F238E27FC236}">
                <a16:creationId xmlns:a16="http://schemas.microsoft.com/office/drawing/2014/main" id="{D70B2363-6458-6881-3B23-0D6430EFA0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9298" y="271286"/>
            <a:ext cx="1177738" cy="1193696"/>
          </a:xfrm>
          <a:prstGeom prst="rect">
            <a:avLst/>
          </a:prstGeom>
        </p:spPr>
      </p:pic>
      <p:pic>
        <p:nvPicPr>
          <p:cNvPr id="30" name="Picture 29" descr="A stack of brown circles&#10;&#10;AI-generated content may be incorrect.">
            <a:extLst>
              <a:ext uri="{FF2B5EF4-FFF2-40B4-BE49-F238E27FC236}">
                <a16:creationId xmlns:a16="http://schemas.microsoft.com/office/drawing/2014/main" id="{5E5C7571-D87E-D2E0-161B-C1BC9A5B7F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49525" y="349624"/>
            <a:ext cx="1383592" cy="106029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014C95B7-2775-C3CF-FE7B-86E4E4A31AC9}"/>
              </a:ext>
            </a:extLst>
          </p:cNvPr>
          <p:cNvSpPr txBox="1"/>
          <p:nvPr/>
        </p:nvSpPr>
        <p:spPr>
          <a:xfrm>
            <a:off x="5038165" y="1506070"/>
            <a:ext cx="1907573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Cu(111) Htop z=1.54A relaxed</a:t>
            </a:r>
          </a:p>
        </p:txBody>
      </p:sp>
      <p:pic>
        <p:nvPicPr>
          <p:cNvPr id="35" name="Picture 34" descr="A brown circle pattern with black lines&#10;&#10;AI-generated content may be incorrect.">
            <a:extLst>
              <a:ext uri="{FF2B5EF4-FFF2-40B4-BE49-F238E27FC236}">
                <a16:creationId xmlns:a16="http://schemas.microsoft.com/office/drawing/2014/main" id="{08864ED7-6D42-D3E1-6645-CEA826AF27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22826" y="220957"/>
            <a:ext cx="1043268" cy="1155155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95B6B72-90DA-1819-C7A5-EC16F2D51DDB}"/>
              </a:ext>
            </a:extLst>
          </p:cNvPr>
          <p:cNvSpPr txBox="1"/>
          <p:nvPr/>
        </p:nvSpPr>
        <p:spPr>
          <a:xfrm>
            <a:off x="7772401" y="1515035"/>
            <a:ext cx="2638543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Cu(111) Hfcc z=0.9A relaxed, dHM=1.77A</a:t>
            </a:r>
          </a:p>
        </p:txBody>
      </p:sp>
      <p:pic>
        <p:nvPicPr>
          <p:cNvPr id="40" name="Picture 39" descr="A stack of brown circles&#10;&#10;AI-generated content may be incorrect.">
            <a:extLst>
              <a:ext uri="{FF2B5EF4-FFF2-40B4-BE49-F238E27FC236}">
                <a16:creationId xmlns:a16="http://schemas.microsoft.com/office/drawing/2014/main" id="{6F9F07BA-BAFA-1185-BA7B-C57EBA5CEC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68173" y="483207"/>
            <a:ext cx="990226" cy="804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8669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D70DC5-746A-F8D6-12AF-1F0F203B623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3EA872-A674-449B-A120-B97244F8E91D}" type="slidenum">
              <a:rPr kumimoji="0" lang="en-GB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35A28B-AAA1-2BAA-7EDB-93F9A9FCB8F1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1051F6-884E-4D46-AD5F-8A730B377BAA}" type="datetime1">
              <a:rPr kumimoji="0" lang="da-DK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26.06.2025</a:t>
            </a:fld>
            <a:endParaRPr kumimoji="0" lang="en-GB" sz="7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106438-450C-84B9-6B66-B1BC53BE0F1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Simiam Ghan | sangh@dtu.dk</a:t>
            </a:r>
            <a:endParaRPr kumimoji="0" lang="da-DK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" name="Picture 4" descr="A diagram of a graph&#10;&#10;AI-generated content may be incorrect.">
            <a:extLst>
              <a:ext uri="{FF2B5EF4-FFF2-40B4-BE49-F238E27FC236}">
                <a16:creationId xmlns:a16="http://schemas.microsoft.com/office/drawing/2014/main" id="{CFE1FAA6-7788-C555-B8CC-8C9558027A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371" y="1920245"/>
            <a:ext cx="3700852" cy="3422720"/>
          </a:xfrm>
          <a:prstGeom prst="rect">
            <a:avLst/>
          </a:prstGeom>
        </p:spPr>
      </p:pic>
      <p:pic>
        <p:nvPicPr>
          <p:cNvPr id="6" name="Picture 5" descr="A diagram of a graph&#10;&#10;AI-generated content may be incorrect.">
            <a:extLst>
              <a:ext uri="{FF2B5EF4-FFF2-40B4-BE49-F238E27FC236}">
                <a16:creationId xmlns:a16="http://schemas.microsoft.com/office/drawing/2014/main" id="{3908D77B-2C4B-458D-C310-BC2A972F7C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283" y="1971631"/>
            <a:ext cx="3578552" cy="34227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93F5A16-7C0C-D172-A84A-F94951253E10}"/>
              </a:ext>
            </a:extLst>
          </p:cNvPr>
          <p:cNvSpPr txBox="1"/>
          <p:nvPr/>
        </p:nvSpPr>
        <p:spPr>
          <a:xfrm>
            <a:off x="1013012" y="663389"/>
            <a:ext cx="3693319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Htop vs Hfcc as descriptors for HER</a:t>
            </a:r>
          </a:p>
        </p:txBody>
      </p:sp>
      <p:pic>
        <p:nvPicPr>
          <p:cNvPr id="8" name="Picture 7" descr="A diagram of a graph&#10;&#10;AI-generated content may be incorrect.">
            <a:extLst>
              <a:ext uri="{FF2B5EF4-FFF2-40B4-BE49-F238E27FC236}">
                <a16:creationId xmlns:a16="http://schemas.microsoft.com/office/drawing/2014/main" id="{33759CD4-5116-02C0-1C7C-79A0FDE34B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8307" y="1932505"/>
            <a:ext cx="3525482" cy="3491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95961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5D555-704B-F9EB-A45B-7EF0F451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A96004-7687-89F7-430E-E4B93E9736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3EA872-A674-449B-A120-B97244F8E91D}" type="slidenum">
              <a:rPr kumimoji="0" lang="en-GB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GB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E1784C-D7F8-CA28-B405-1AD58378819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1051F6-884E-4D46-AD5F-8A730B377BAA}" type="datetime1">
              <a:rPr kumimoji="0" lang="da-DK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26.06.2025</a:t>
            </a:fld>
            <a:endParaRPr kumimoji="0" lang="en-GB" sz="7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997456-3715-0A23-C6EE-8DA75D60F02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Simiam Ghan | sangh@dtu.dk</a:t>
            </a:r>
            <a:endParaRPr kumimoji="0" lang="da-DK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4161BE-2E48-0544-70D7-EBCB826D7B9D}"/>
              </a:ext>
            </a:extLst>
          </p:cNvPr>
          <p:cNvSpPr txBox="1"/>
          <p:nvPr/>
        </p:nvSpPr>
        <p:spPr>
          <a:xfrm>
            <a:off x="6158240" y="-408279"/>
            <a:ext cx="372762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Workfunctions versus wavefunctions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86A86A-EAEE-B0F0-9B09-A5A5BD018F33}"/>
              </a:ext>
            </a:extLst>
          </p:cNvPr>
          <p:cNvSpPr txBox="1"/>
          <p:nvPr/>
        </p:nvSpPr>
        <p:spPr>
          <a:xfrm>
            <a:off x="1272988" y="-358587"/>
            <a:ext cx="4787153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50" b="0" i="0" u="none" strike="noStrike" kern="1200" cap="none" spc="0" normalizeH="0" baseline="0" noProof="0" dirty="0">
                <a:ln>
                  <a:noFill/>
                </a:ln>
                <a:solidFill>
                  <a:srgbClr val="2F3EE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Hypothesis: W</a:t>
            </a:r>
            <a:r>
              <a:rPr kumimoji="0" lang="en-DK" sz="1050" b="0" i="0" u="none" strike="noStrike" kern="1200" cap="none" spc="0" normalizeH="0" baseline="0" noProof="0" dirty="0">
                <a:ln>
                  <a:noFill/>
                </a:ln>
                <a:solidFill>
                  <a:srgbClr val="2F3EE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orkfunction is a covalent descriptor </a:t>
            </a:r>
            <a:r>
              <a:rPr kumimoji="0" lang="en-DK" sz="1600" b="0" i="1" u="none" strike="noStrike" kern="1200" cap="none" spc="0" normalizeH="0" baseline="0" noProof="0" dirty="0">
                <a:ln>
                  <a:noFill/>
                </a:ln>
                <a:solidFill>
                  <a:srgbClr val="2F3EE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above</a:t>
            </a:r>
            <a:r>
              <a:rPr kumimoji="0" lang="en-DK" sz="1050" b="0" i="0" u="none" strike="noStrike" kern="1200" cap="none" spc="0" normalizeH="0" baseline="0" noProof="0" dirty="0">
                <a:ln>
                  <a:noFill/>
                </a:ln>
                <a:solidFill>
                  <a:srgbClr val="2F3EE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the surface</a:t>
            </a:r>
            <a:r>
              <a:rPr kumimoji="0" lang="en-DK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BDBE51-69E1-07FD-3651-88E253FBF7E0}"/>
              </a:ext>
            </a:extLst>
          </p:cNvPr>
          <p:cNvSpPr txBox="1"/>
          <p:nvPr/>
        </p:nvSpPr>
        <p:spPr>
          <a:xfrm>
            <a:off x="6508376" y="188258"/>
            <a:ext cx="176971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</a:t>
            </a: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nclude in paper?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BA90B6-143B-6A9F-78EB-07AC9507B2DF}"/>
              </a:ext>
            </a:extLst>
          </p:cNvPr>
          <p:cNvSpPr txBox="1"/>
          <p:nvPr/>
        </p:nvSpPr>
        <p:spPr>
          <a:xfrm>
            <a:off x="10309412" y="358588"/>
            <a:ext cx="102592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26.6.2025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4B14E9-F070-5855-E273-567CA080CCB5}"/>
              </a:ext>
            </a:extLst>
          </p:cNvPr>
          <p:cNvSpPr txBox="1"/>
          <p:nvPr/>
        </p:nvSpPr>
        <p:spPr>
          <a:xfrm>
            <a:off x="1013012" y="663389"/>
            <a:ext cx="130805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Htop vs Hfcc</a:t>
            </a:r>
          </a:p>
        </p:txBody>
      </p:sp>
      <p:pic>
        <p:nvPicPr>
          <p:cNvPr id="15" name="Picture 14" descr="A diagram of a graph&#10;&#10;AI-generated content may be incorrect.">
            <a:extLst>
              <a:ext uri="{FF2B5EF4-FFF2-40B4-BE49-F238E27FC236}">
                <a16:creationId xmlns:a16="http://schemas.microsoft.com/office/drawing/2014/main" id="{C5D86E37-4BDE-D4CB-F04F-0C3A201FE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07473"/>
            <a:ext cx="2609930" cy="2409468"/>
          </a:xfrm>
          <a:prstGeom prst="rect">
            <a:avLst/>
          </a:prstGeom>
        </p:spPr>
      </p:pic>
      <p:pic>
        <p:nvPicPr>
          <p:cNvPr id="17" name="Picture 16" descr="A diagram of a graph&#10;&#10;AI-generated content may be incorrect.">
            <a:extLst>
              <a:ext uri="{FF2B5EF4-FFF2-40B4-BE49-F238E27FC236}">
                <a16:creationId xmlns:a16="http://schemas.microsoft.com/office/drawing/2014/main" id="{07F074D1-F58D-968A-F884-C3CDE69201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5574" y="1259739"/>
            <a:ext cx="2730731" cy="2395378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795803F6-573D-BF65-7DC2-6DCFB6B12E1B}"/>
              </a:ext>
            </a:extLst>
          </p:cNvPr>
          <p:cNvSpPr txBox="1"/>
          <p:nvPr/>
        </p:nvSpPr>
        <p:spPr>
          <a:xfrm>
            <a:off x="932330" y="251012"/>
            <a:ext cx="3052118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HBE vs electronic Descriptors</a:t>
            </a:r>
          </a:p>
        </p:txBody>
      </p:sp>
      <p:pic>
        <p:nvPicPr>
          <p:cNvPr id="13" name="Picture 12" descr="A diagram of a graph&#10;&#10;AI-generated content may be incorrect.">
            <a:extLst>
              <a:ext uri="{FF2B5EF4-FFF2-40B4-BE49-F238E27FC236}">
                <a16:creationId xmlns:a16="http://schemas.microsoft.com/office/drawing/2014/main" id="{9DB3D143-1B96-3381-0E36-6AEC3E0DC9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002" y="1218837"/>
            <a:ext cx="2640680" cy="2409468"/>
          </a:xfrm>
          <a:prstGeom prst="rect">
            <a:avLst/>
          </a:prstGeom>
        </p:spPr>
      </p:pic>
      <p:pic>
        <p:nvPicPr>
          <p:cNvPr id="7" name="Picture 6" descr="A diagram of a graph&#10;&#10;AI-generated content may be incorrect.">
            <a:extLst>
              <a:ext uri="{FF2B5EF4-FFF2-40B4-BE49-F238E27FC236}">
                <a16:creationId xmlns:a16="http://schemas.microsoft.com/office/drawing/2014/main" id="{6D017777-4FF4-9770-3310-D7D23795CC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6121" y="1221238"/>
            <a:ext cx="2683550" cy="2409468"/>
          </a:xfrm>
          <a:prstGeom prst="rect">
            <a:avLst/>
          </a:prstGeom>
        </p:spPr>
      </p:pic>
      <p:pic>
        <p:nvPicPr>
          <p:cNvPr id="30" name="Picture 29" descr="A diagram of a graph&#10;&#10;AI-generated content may be incorrect.">
            <a:extLst>
              <a:ext uri="{FF2B5EF4-FFF2-40B4-BE49-F238E27FC236}">
                <a16:creationId xmlns:a16="http://schemas.microsoft.com/office/drawing/2014/main" id="{262E038C-CF7B-B40E-9D2C-8F92BEE1890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82" y="4080438"/>
            <a:ext cx="2484390" cy="2387280"/>
          </a:xfrm>
          <a:prstGeom prst="rect">
            <a:avLst/>
          </a:prstGeom>
        </p:spPr>
      </p:pic>
      <p:pic>
        <p:nvPicPr>
          <p:cNvPr id="32" name="Picture 31" descr="A diagram of a graph&#10;&#10;AI-generated content may be incorrect.">
            <a:extLst>
              <a:ext uri="{FF2B5EF4-FFF2-40B4-BE49-F238E27FC236}">
                <a16:creationId xmlns:a16="http://schemas.microsoft.com/office/drawing/2014/main" id="{74C9C2EA-6968-9120-035C-546BE95554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62143" y="4006319"/>
            <a:ext cx="2541682" cy="2387281"/>
          </a:xfrm>
          <a:prstGeom prst="rect">
            <a:avLst/>
          </a:prstGeom>
        </p:spPr>
      </p:pic>
      <p:pic>
        <p:nvPicPr>
          <p:cNvPr id="36" name="Picture 35" descr="A diagram of a graph&#10;&#10;AI-generated content may be incorrect.">
            <a:extLst>
              <a:ext uri="{FF2B5EF4-FFF2-40B4-BE49-F238E27FC236}">
                <a16:creationId xmlns:a16="http://schemas.microsoft.com/office/drawing/2014/main" id="{CB7A9B6F-8EF4-CE1A-D275-97D5C4FECC1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95977" y="4001519"/>
            <a:ext cx="2499435" cy="2387281"/>
          </a:xfrm>
          <a:prstGeom prst="rect">
            <a:avLst/>
          </a:prstGeom>
        </p:spPr>
      </p:pic>
      <p:pic>
        <p:nvPicPr>
          <p:cNvPr id="28" name="Picture 27" descr="A diagram of a graph&#10;&#10;AI-generated content may be incorrect.">
            <a:extLst>
              <a:ext uri="{FF2B5EF4-FFF2-40B4-BE49-F238E27FC236}">
                <a16:creationId xmlns:a16="http://schemas.microsoft.com/office/drawing/2014/main" id="{E371287B-431D-044F-3EFE-FD5C84C4461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02735" y="4029050"/>
            <a:ext cx="2512290" cy="2387280"/>
          </a:xfrm>
          <a:prstGeom prst="rect">
            <a:avLst/>
          </a:prstGeom>
        </p:spPr>
      </p:pic>
      <p:pic>
        <p:nvPicPr>
          <p:cNvPr id="26" name="Picture 25" descr="A diagram of a graph&#10;&#10;AI-generated content may be incorrect.">
            <a:extLst>
              <a:ext uri="{FF2B5EF4-FFF2-40B4-BE49-F238E27FC236}">
                <a16:creationId xmlns:a16="http://schemas.microsoft.com/office/drawing/2014/main" id="{80C1841B-DC31-8FFC-AEFE-49CC7CB9E5D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43446" y="4031447"/>
            <a:ext cx="2492662" cy="2387281"/>
          </a:xfrm>
          <a:prstGeom prst="rect">
            <a:avLst/>
          </a:prstGeom>
        </p:spPr>
      </p:pic>
      <p:pic>
        <p:nvPicPr>
          <p:cNvPr id="22" name="Picture 21" descr="A diagram of a graph&#10;&#10;AI-generated content may be incorrect.">
            <a:extLst>
              <a:ext uri="{FF2B5EF4-FFF2-40B4-BE49-F238E27FC236}">
                <a16:creationId xmlns:a16="http://schemas.microsoft.com/office/drawing/2014/main" id="{AB44E7DD-E0EF-A99F-EC2F-1F9C91E28C3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92052" y="1256462"/>
            <a:ext cx="2646795" cy="2409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676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71CBCB1-56DD-3402-F24A-A2B4B5A6AE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3298" y="1713298"/>
            <a:ext cx="2695074" cy="269507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C2CA5BD-BD53-4F91-58BA-5D07462665E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3EA872-A674-449B-A120-B97244F8E91D}" type="slidenum">
              <a:rPr kumimoji="0" lang="en-GB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GB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CD40D6-83A6-8797-F381-15DCF88114D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1051F6-884E-4D46-AD5F-8A730B377BAA}" type="datetime1">
              <a:rPr kumimoji="0" lang="da-DK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26.06.2025</a:t>
            </a:fld>
            <a:endParaRPr kumimoji="0" lang="en-GB" sz="7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F29AB2-4414-3FC7-45F2-AF26A5FC5364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Simiam Ghan | sangh@dtu.dk</a:t>
            </a:r>
            <a:endParaRPr kumimoji="0" lang="da-DK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48AD38-5E07-D8BB-AA8B-6756769F3229}"/>
              </a:ext>
            </a:extLst>
          </p:cNvPr>
          <p:cNvSpPr txBox="1"/>
          <p:nvPr/>
        </p:nvSpPr>
        <p:spPr>
          <a:xfrm>
            <a:off x="6158240" y="-408279"/>
            <a:ext cx="372762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Workfunctions versus wavefunctions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D8C182-5978-D3B9-33B6-298B99A0DBC8}"/>
              </a:ext>
            </a:extLst>
          </p:cNvPr>
          <p:cNvSpPr txBox="1"/>
          <p:nvPr/>
        </p:nvSpPr>
        <p:spPr>
          <a:xfrm>
            <a:off x="1272988" y="-358587"/>
            <a:ext cx="4787153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50" b="0" i="0" u="none" strike="noStrike" kern="1200" cap="none" spc="0" normalizeH="0" baseline="0" noProof="0" dirty="0">
                <a:ln>
                  <a:noFill/>
                </a:ln>
                <a:solidFill>
                  <a:srgbClr val="2F3EE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Hypothesis: W</a:t>
            </a:r>
            <a:r>
              <a:rPr kumimoji="0" lang="en-DK" sz="1050" b="0" i="0" u="none" strike="noStrike" kern="1200" cap="none" spc="0" normalizeH="0" baseline="0" noProof="0" dirty="0">
                <a:ln>
                  <a:noFill/>
                </a:ln>
                <a:solidFill>
                  <a:srgbClr val="2F3EE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orkfunction is a covalent descriptor </a:t>
            </a:r>
            <a:r>
              <a:rPr kumimoji="0" lang="en-DK" sz="1600" b="0" i="1" u="none" strike="noStrike" kern="1200" cap="none" spc="0" normalizeH="0" baseline="0" noProof="0" dirty="0">
                <a:ln>
                  <a:noFill/>
                </a:ln>
                <a:solidFill>
                  <a:srgbClr val="2F3EE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above</a:t>
            </a:r>
            <a:r>
              <a:rPr kumimoji="0" lang="en-DK" sz="1050" b="0" i="0" u="none" strike="noStrike" kern="1200" cap="none" spc="0" normalizeH="0" baseline="0" noProof="0" dirty="0">
                <a:ln>
                  <a:noFill/>
                </a:ln>
                <a:solidFill>
                  <a:srgbClr val="2F3EE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the surface</a:t>
            </a:r>
            <a:r>
              <a:rPr kumimoji="0" lang="en-DK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C7CCA4-BA71-EC72-D005-D6D6ABA57B83}"/>
              </a:ext>
            </a:extLst>
          </p:cNvPr>
          <p:cNvSpPr txBox="1"/>
          <p:nvPr/>
        </p:nvSpPr>
        <p:spPr>
          <a:xfrm>
            <a:off x="1084729" y="475129"/>
            <a:ext cx="192360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</a:t>
            </a: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nclude in paper SI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23A182-E8FD-56F0-1A84-269923C11BDF}"/>
              </a:ext>
            </a:extLst>
          </p:cNvPr>
          <p:cNvSpPr txBox="1"/>
          <p:nvPr/>
        </p:nvSpPr>
        <p:spPr>
          <a:xfrm>
            <a:off x="10309412" y="358588"/>
            <a:ext cx="102592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26.6.2025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2F02B0B-E199-52C6-B474-ADF9AD708368}"/>
              </a:ext>
            </a:extLst>
          </p:cNvPr>
          <p:cNvSpPr txBox="1"/>
          <p:nvPr/>
        </p:nvSpPr>
        <p:spPr>
          <a:xfrm>
            <a:off x="690281" y="-519953"/>
            <a:ext cx="414216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Further correlations:  derived descriptors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07A59219-5D8A-AFF3-56E6-4A4A204033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3969" y="1716695"/>
            <a:ext cx="2683482" cy="2683482"/>
          </a:xfrm>
          <a:prstGeom prst="rect">
            <a:avLst/>
          </a:prstGeom>
        </p:spPr>
      </p:pic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BFA4B51B-CBBB-097E-7B3B-F253854773B9}"/>
              </a:ext>
            </a:extLst>
          </p:cNvPr>
          <p:cNvCxnSpPr/>
          <p:nvPr/>
        </p:nvCxnSpPr>
        <p:spPr bwMode="auto">
          <a:xfrm>
            <a:off x="-2029331" y="5584716"/>
            <a:ext cx="36576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66232A66-F12A-FE61-F70D-C246BD87CB2E}"/>
              </a:ext>
            </a:extLst>
          </p:cNvPr>
          <p:cNvCxnSpPr/>
          <p:nvPr/>
        </p:nvCxnSpPr>
        <p:spPr bwMode="auto">
          <a:xfrm>
            <a:off x="3244131" y="4128820"/>
            <a:ext cx="0" cy="3045349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94B9E1ED-B328-8ECE-81C9-AFD6E7CD7B07}"/>
              </a:ext>
            </a:extLst>
          </p:cNvPr>
          <p:cNvCxnSpPr/>
          <p:nvPr/>
        </p:nvCxnSpPr>
        <p:spPr bwMode="auto">
          <a:xfrm>
            <a:off x="-178626" y="3907926"/>
            <a:ext cx="0" cy="3045349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6D411D1-6B49-8F7A-4185-E32D19C2E5B4}"/>
              </a:ext>
            </a:extLst>
          </p:cNvPr>
          <p:cNvSpPr txBox="1"/>
          <p:nvPr/>
        </p:nvSpPr>
        <p:spPr>
          <a:xfrm>
            <a:off x="4283243" y="308008"/>
            <a:ext cx="4103688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GB" dirty="0">
                <a:latin typeface="+mn-lt"/>
              </a:rPr>
              <a:t>S</a:t>
            </a:r>
            <a:r>
              <a:rPr lang="en-DK" dirty="0">
                <a:latin typeface="+mn-lt"/>
              </a:rPr>
              <a:t>elect. </a:t>
            </a:r>
            <a:r>
              <a:rPr lang="en-GB" dirty="0">
                <a:latin typeface="+mn-lt"/>
              </a:rPr>
              <a:t>R</a:t>
            </a:r>
            <a:r>
              <a:rPr lang="en-DK" dirty="0">
                <a:latin typeface="+mn-lt"/>
              </a:rPr>
              <a:t>ight click “save as picture” pdf.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B30AC49-C240-DACC-8B13-FD26197882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8051" y="1707682"/>
            <a:ext cx="2700689" cy="270068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33973CB-904D-D581-9441-AE42BF5384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8108" y="1718911"/>
            <a:ext cx="2679834" cy="2679834"/>
          </a:xfrm>
          <a:prstGeom prst="rect">
            <a:avLst/>
          </a:prstGeom>
        </p:spPr>
      </p:pic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F88F9DB-76E4-9B3A-EE72-B8C29CD1A939}"/>
              </a:ext>
            </a:extLst>
          </p:cNvPr>
          <p:cNvCxnSpPr/>
          <p:nvPr/>
        </p:nvCxnSpPr>
        <p:spPr bwMode="auto">
          <a:xfrm>
            <a:off x="206802" y="5625827"/>
            <a:ext cx="10429113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A2603676-9EBA-012C-101D-EAF1986608D1}"/>
              </a:ext>
            </a:extLst>
          </p:cNvPr>
          <p:cNvSpPr txBox="1"/>
          <p:nvPr/>
        </p:nvSpPr>
        <p:spPr>
          <a:xfrm>
            <a:off x="2149953" y="1851817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B888966-189A-AF10-537F-C4B3369E3443}"/>
              </a:ext>
            </a:extLst>
          </p:cNvPr>
          <p:cNvSpPr txBox="1"/>
          <p:nvPr/>
        </p:nvSpPr>
        <p:spPr>
          <a:xfrm>
            <a:off x="4599024" y="1847286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695E01-6D64-B750-3810-945F24B286F6}"/>
              </a:ext>
            </a:extLst>
          </p:cNvPr>
          <p:cNvSpPr txBox="1"/>
          <p:nvPr/>
        </p:nvSpPr>
        <p:spPr>
          <a:xfrm>
            <a:off x="7056464" y="1852371"/>
            <a:ext cx="11702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0AE935B-8983-7BC5-C056-22F967F374C1}"/>
              </a:ext>
            </a:extLst>
          </p:cNvPr>
          <p:cNvSpPr txBox="1"/>
          <p:nvPr/>
        </p:nvSpPr>
        <p:spPr>
          <a:xfrm>
            <a:off x="9508815" y="1862001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d)</a:t>
            </a:r>
          </a:p>
        </p:txBody>
      </p:sp>
    </p:spTree>
    <p:extLst>
      <p:ext uri="{BB962C8B-B14F-4D97-AF65-F5344CB8AC3E}">
        <p14:creationId xmlns:p14="http://schemas.microsoft.com/office/powerpoint/2010/main" val="22293363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4565A-7977-BE43-9EAA-ECEA63B5F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C41477D0-ADBA-A357-074E-3BD062410C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94" r="6443" b="12245"/>
          <a:stretch>
            <a:fillRect/>
          </a:stretch>
        </p:blipFill>
        <p:spPr>
          <a:xfrm>
            <a:off x="4716380" y="1328541"/>
            <a:ext cx="2396689" cy="2348312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6C0D22D-9F72-300E-69B6-284754684DD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3EA872-A674-449B-A120-B97244F8E91D}" type="slidenum">
              <a:rPr kumimoji="0" lang="en-GB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GB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6FB7BC-5A4A-C211-4C6A-FF72ED1479A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1051F6-884E-4D46-AD5F-8A730B377BAA}" type="datetime1">
              <a:rPr kumimoji="0" lang="da-DK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26.06.2025</a:t>
            </a:fld>
            <a:endParaRPr kumimoji="0" lang="en-GB" sz="7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8E4BE4-C007-F97E-1802-959ECFC22B8D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Simiam Ghan | sangh@dtu.dk</a:t>
            </a:r>
            <a:endParaRPr kumimoji="0" lang="da-DK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A7180D-B186-26E7-EDF5-557603E41EAA}"/>
              </a:ext>
            </a:extLst>
          </p:cNvPr>
          <p:cNvSpPr txBox="1"/>
          <p:nvPr/>
        </p:nvSpPr>
        <p:spPr>
          <a:xfrm>
            <a:off x="6158240" y="-408279"/>
            <a:ext cx="372762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Workfunctions versus wavefunctions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A17E3A-7D8E-D278-A9AC-2F818300486D}"/>
              </a:ext>
            </a:extLst>
          </p:cNvPr>
          <p:cNvSpPr txBox="1"/>
          <p:nvPr/>
        </p:nvSpPr>
        <p:spPr>
          <a:xfrm>
            <a:off x="1272988" y="-358587"/>
            <a:ext cx="4787153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50" b="0" i="0" u="none" strike="noStrike" kern="1200" cap="none" spc="0" normalizeH="0" baseline="0" noProof="0" dirty="0">
                <a:ln>
                  <a:noFill/>
                </a:ln>
                <a:solidFill>
                  <a:srgbClr val="2F3EE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Hypothesis: W</a:t>
            </a:r>
            <a:r>
              <a:rPr kumimoji="0" lang="en-DK" sz="1050" b="0" i="0" u="none" strike="noStrike" kern="1200" cap="none" spc="0" normalizeH="0" baseline="0" noProof="0" dirty="0">
                <a:ln>
                  <a:noFill/>
                </a:ln>
                <a:solidFill>
                  <a:srgbClr val="2F3EE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orkfunction is a covalent descriptor </a:t>
            </a:r>
            <a:r>
              <a:rPr kumimoji="0" lang="en-DK" sz="1600" b="0" i="1" u="none" strike="noStrike" kern="1200" cap="none" spc="0" normalizeH="0" baseline="0" noProof="0" dirty="0">
                <a:ln>
                  <a:noFill/>
                </a:ln>
                <a:solidFill>
                  <a:srgbClr val="2F3EE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above</a:t>
            </a:r>
            <a:r>
              <a:rPr kumimoji="0" lang="en-DK" sz="1050" b="0" i="0" u="none" strike="noStrike" kern="1200" cap="none" spc="0" normalizeH="0" baseline="0" noProof="0" dirty="0">
                <a:ln>
                  <a:noFill/>
                </a:ln>
                <a:solidFill>
                  <a:srgbClr val="2F3EE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the surface</a:t>
            </a:r>
            <a:r>
              <a:rPr kumimoji="0" lang="en-DK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D3E67E-DB39-69D4-BB6A-6DF5DB3F7E80}"/>
              </a:ext>
            </a:extLst>
          </p:cNvPr>
          <p:cNvSpPr txBox="1"/>
          <p:nvPr/>
        </p:nvSpPr>
        <p:spPr>
          <a:xfrm>
            <a:off x="1084729" y="475129"/>
            <a:ext cx="192360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</a:t>
            </a: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nclude in paper SI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3946B5-A2A4-A0DC-77D2-B124BA32CEAE}"/>
              </a:ext>
            </a:extLst>
          </p:cNvPr>
          <p:cNvSpPr txBox="1"/>
          <p:nvPr/>
        </p:nvSpPr>
        <p:spPr>
          <a:xfrm>
            <a:off x="10309412" y="358588"/>
            <a:ext cx="102592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26.6.2025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629C31D-93E6-92C5-ECE8-99D32B15698C}"/>
              </a:ext>
            </a:extLst>
          </p:cNvPr>
          <p:cNvSpPr txBox="1"/>
          <p:nvPr/>
        </p:nvSpPr>
        <p:spPr>
          <a:xfrm>
            <a:off x="690281" y="-519953"/>
            <a:ext cx="414216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Further correlations:  derived descriptors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7332508C-8914-BC2D-CD7A-DECF4C5C8E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548"/>
          <a:stretch>
            <a:fillRect/>
          </a:stretch>
        </p:blipFill>
        <p:spPr>
          <a:xfrm>
            <a:off x="2235440" y="1318288"/>
            <a:ext cx="2480939" cy="2683482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B6C5F0DF-26E8-29E8-6310-814D35E2AF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3043" y="3676122"/>
            <a:ext cx="2683482" cy="2683482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24AB90C8-B9DD-9228-7112-F963AC52F8E9}"/>
              </a:ext>
            </a:extLst>
          </p:cNvPr>
          <p:cNvSpPr txBox="1"/>
          <p:nvPr/>
        </p:nvSpPr>
        <p:spPr>
          <a:xfrm>
            <a:off x="2424415" y="1490588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a)</a:t>
            </a: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F9B7B564-4A69-3C23-051C-5542C7DC1F9A}"/>
              </a:ext>
            </a:extLst>
          </p:cNvPr>
          <p:cNvCxnSpPr/>
          <p:nvPr/>
        </p:nvCxnSpPr>
        <p:spPr bwMode="auto">
          <a:xfrm>
            <a:off x="283387" y="2300507"/>
            <a:ext cx="0" cy="3045349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13FFFC1A-FDC8-0AAF-FC30-8B229AFBDC3A}"/>
              </a:ext>
            </a:extLst>
          </p:cNvPr>
          <p:cNvSpPr txBox="1"/>
          <p:nvPr/>
        </p:nvSpPr>
        <p:spPr>
          <a:xfrm>
            <a:off x="4283243" y="308008"/>
            <a:ext cx="4103688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GB" dirty="0">
                <a:latin typeface="+mn-lt"/>
              </a:rPr>
              <a:t>S</a:t>
            </a:r>
            <a:r>
              <a:rPr lang="en-DK" dirty="0">
                <a:latin typeface="+mn-lt"/>
              </a:rPr>
              <a:t>elect. </a:t>
            </a:r>
            <a:r>
              <a:rPr lang="en-GB" dirty="0">
                <a:latin typeface="+mn-lt"/>
              </a:rPr>
              <a:t>R</a:t>
            </a:r>
            <a:r>
              <a:rPr lang="en-DK" dirty="0">
                <a:latin typeface="+mn-lt"/>
              </a:rPr>
              <a:t>ight click “save as picture” pdf.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4CCE5AA-E001-5952-1CDE-7F2C641EC0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0932" y="3682463"/>
            <a:ext cx="2670210" cy="2670210"/>
          </a:xfrm>
          <a:prstGeom prst="rect">
            <a:avLst/>
          </a:prstGeom>
        </p:spPr>
      </p:pic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B8B6FB8-6DE2-BED7-528E-1F91E6C83E49}"/>
              </a:ext>
            </a:extLst>
          </p:cNvPr>
          <p:cNvCxnSpPr/>
          <p:nvPr/>
        </p:nvCxnSpPr>
        <p:spPr bwMode="auto">
          <a:xfrm>
            <a:off x="12305761" y="2516868"/>
            <a:ext cx="36576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992ED030-3538-4E5E-B5BE-60584E3415D6}"/>
              </a:ext>
            </a:extLst>
          </p:cNvPr>
          <p:cNvSpPr txBox="1"/>
          <p:nvPr/>
        </p:nvSpPr>
        <p:spPr>
          <a:xfrm>
            <a:off x="4866785" y="1511164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b)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6656B4E-D452-4E1C-91FE-245F0C8B23C1}"/>
              </a:ext>
            </a:extLst>
          </p:cNvPr>
          <p:cNvSpPr txBox="1"/>
          <p:nvPr/>
        </p:nvSpPr>
        <p:spPr>
          <a:xfrm>
            <a:off x="2405370" y="3835181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E220B0C-0A14-263B-42DC-473EFE6C1FB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11174"/>
          <a:stretch>
            <a:fillRect/>
          </a:stretch>
        </p:blipFill>
        <p:spPr>
          <a:xfrm>
            <a:off x="7070558" y="1324275"/>
            <a:ext cx="2670210" cy="2371827"/>
          </a:xfrm>
          <a:prstGeom prst="rect">
            <a:avLst/>
          </a:prstGeom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55A6A2A9-C6B5-774E-9719-EECEC2AFEB43}"/>
              </a:ext>
            </a:extLst>
          </p:cNvPr>
          <p:cNvSpPr txBox="1"/>
          <p:nvPr/>
        </p:nvSpPr>
        <p:spPr>
          <a:xfrm>
            <a:off x="7258595" y="1496237"/>
            <a:ext cx="11702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D52692-04F1-F42F-5F15-BDC130C417F0}"/>
              </a:ext>
            </a:extLst>
          </p:cNvPr>
          <p:cNvSpPr txBox="1"/>
          <p:nvPr/>
        </p:nvSpPr>
        <p:spPr>
          <a:xfrm>
            <a:off x="7274149" y="3823952"/>
            <a:ext cx="8496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100" dirty="0">
                <a:solidFill>
                  <a:srgbClr val="000000"/>
                </a:solidFill>
                <a:latin typeface="Arial"/>
              </a:rPr>
              <a:t>f</a:t>
            </a: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A2DE84C-BC15-CAFB-712B-FCB68FAADFE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8687" t="6734" r="6647" b="10350"/>
          <a:stretch>
            <a:fillRect/>
          </a:stretch>
        </p:blipFill>
        <p:spPr>
          <a:xfrm>
            <a:off x="4831883" y="3850105"/>
            <a:ext cx="2290001" cy="2242686"/>
          </a:xfrm>
          <a:prstGeom prst="rect">
            <a:avLst/>
          </a:prstGeom>
        </p:spPr>
      </p:pic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63A33EBD-0421-6653-3C1F-7F4E48B0CB5C}"/>
              </a:ext>
            </a:extLst>
          </p:cNvPr>
          <p:cNvCxnSpPr/>
          <p:nvPr/>
        </p:nvCxnSpPr>
        <p:spPr bwMode="auto">
          <a:xfrm>
            <a:off x="1713299" y="964590"/>
            <a:ext cx="8547234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ED330EF7-55DE-77DA-9003-8AD76E57D015}"/>
              </a:ext>
            </a:extLst>
          </p:cNvPr>
          <p:cNvCxnSpPr/>
          <p:nvPr/>
        </p:nvCxnSpPr>
        <p:spPr bwMode="auto">
          <a:xfrm>
            <a:off x="1001444" y="1145407"/>
            <a:ext cx="0" cy="48256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253ADAB-595E-766B-EF17-C72E334DF34F}"/>
              </a:ext>
            </a:extLst>
          </p:cNvPr>
          <p:cNvSpPr txBox="1"/>
          <p:nvPr/>
        </p:nvSpPr>
        <p:spPr>
          <a:xfrm>
            <a:off x="4877459" y="3833577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100" dirty="0">
                <a:solidFill>
                  <a:srgbClr val="000000"/>
                </a:solidFill>
                <a:latin typeface="Arial"/>
              </a:rPr>
              <a:t>e</a:t>
            </a: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043780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heme/theme1.xml><?xml version="1.0" encoding="utf-8"?>
<a:theme xmlns:a="http://schemas.openxmlformats.org/drawingml/2006/main" name="1_Blank">
  <a:themeElements>
    <a:clrScheme name="DTU">
      <a:dk1>
        <a:srgbClr val="000000"/>
      </a:dk1>
      <a:lt1>
        <a:srgbClr val="FFFFFF"/>
      </a:lt1>
      <a:dk2>
        <a:srgbClr val="990000"/>
      </a:dk2>
      <a:lt2>
        <a:srgbClr val="79238E"/>
      </a:lt2>
      <a:accent1>
        <a:srgbClr val="990000"/>
      </a:accent1>
      <a:accent2>
        <a:srgbClr val="2F3EEA"/>
      </a:accent2>
      <a:accent3>
        <a:srgbClr val="1FD082"/>
      </a:accent3>
      <a:accent4>
        <a:srgbClr val="171748"/>
      </a:accent4>
      <a:accent5>
        <a:srgbClr val="F6D04D"/>
      </a:accent5>
      <a:accent6>
        <a:srgbClr val="FC7634"/>
      </a:accent6>
      <a:hlink>
        <a:srgbClr val="2F3EEA"/>
      </a:hlink>
      <a:folHlink>
        <a:srgbClr val="990000"/>
      </a:folHlink>
    </a:clrScheme>
    <a:fontScheme name="DT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9525" cap="flat" cmpd="sng" algn="ctr">
          <a:solidFill>
            <a:schemeClr val="accent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ts val="432"/>
          </a:spcBef>
          <a:spcAft>
            <a:spcPct val="0"/>
          </a:spcAft>
          <a:buClrTx/>
          <a:buSzTx/>
          <a:buFontTx/>
          <a:buNone/>
          <a:tabLst/>
          <a:defRPr kumimoji="0" sz="1600" b="0" i="0" u="none" strike="noStrike" cap="none" normalizeH="0" baseline="0" dirty="0" err="1" smtClean="0">
            <a:ln>
              <a:noFill/>
            </a:ln>
            <a:solidFill>
              <a:srgbClr val="FFFFFF"/>
            </a:solidFill>
            <a:effectLst/>
            <a:latin typeface="+mn-lt"/>
            <a:ea typeface="ＭＳ Ｐゴシック" pitchFamily="-80" charset="-128"/>
          </a:defRPr>
        </a:defPPr>
      </a:lstStyle>
    </a:spDef>
    <a:ln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>
        <a:noFill/>
      </a:spPr>
      <a:bodyPr wrap="square" lIns="0" tIns="0" rIns="0" bIns="0" rtlCol="0">
        <a:spAutoFit/>
      </a:bodyPr>
      <a:lstStyle>
        <a:defPPr algn="l">
          <a:spcBef>
            <a:spcPts val="432"/>
          </a:spcBef>
          <a:defRPr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TU Template 16_9 - Corporate red-ENG.potx" id="{ED70A225-5B60-42AC-912C-67898019C42C}" vid="{E9106579-58D4-45CA-A6E9-5E2F157EFB5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223</Words>
  <Application>Microsoft Macintosh PowerPoint</Application>
  <PresentationFormat>Widescreen</PresentationFormat>
  <Paragraphs>49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Verdana</vt:lpstr>
      <vt:lpstr>1_Blank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Simiam Andreas Ghan</dc:creator>
  <cp:lastModifiedBy>Simiam Andreas Ghan</cp:lastModifiedBy>
  <cp:revision>6</cp:revision>
  <dcterms:created xsi:type="dcterms:W3CDTF">2025-06-26T11:04:15Z</dcterms:created>
  <dcterms:modified xsi:type="dcterms:W3CDTF">2025-06-26T11:44:43Z</dcterms:modified>
</cp:coreProperties>
</file>